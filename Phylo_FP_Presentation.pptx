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8" r:id="rId13"/>
    <p:sldId id="269" r:id="rId14"/>
    <p:sldId id="267" r:id="rId15"/>
    <p:sldId id="277" r:id="rId16"/>
    <p:sldId id="279" r:id="rId17"/>
    <p:sldId id="278" r:id="rId18"/>
    <p:sldId id="280" r:id="rId19"/>
    <p:sldId id="270" r:id="rId20"/>
    <p:sldId id="271" r:id="rId21"/>
    <p:sldId id="272" r:id="rId22"/>
    <p:sldId id="273" r:id="rId23"/>
    <p:sldId id="274" r:id="rId24"/>
    <p:sldId id="275" r:id="rId25"/>
    <p:sldId id="276"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69"/>
    <p:restoredTop sz="94671"/>
  </p:normalViewPr>
  <p:slideViewPr>
    <p:cSldViewPr snapToGrid="0" snapToObjects="1">
      <p:cViewPr varScale="1">
        <p:scale>
          <a:sx n="64" d="100"/>
          <a:sy n="64" d="100"/>
        </p:scale>
        <p:origin x="176"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9140B-891F-3E4A-9A54-857F79A87C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AB6294-CA75-5C42-A8A9-CD3A6BAD95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7132D4-E932-8340-BF83-2FDA8EC21909}"/>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08919DA7-B5CC-884C-A04D-17FFB6ECE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639A4E-2158-C749-9D58-010F3ADC69A5}"/>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2165881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E3BA2-6DE8-1D46-9458-6CFF9D7D65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FBFFAC-F19E-9747-9645-82729B2715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B4EF13-320D-364B-A82D-1C8A75D88FD6}"/>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1D466138-9E8E-6844-BCA7-5062C4378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074DB-03BA-1E4C-A36B-EF3D538D0591}"/>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134144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23B0-DF0A-0F4D-9AE3-4D21D53E37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95EAA0-07E7-EC45-8824-FE9ACBE71B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ECB90E-4EAE-9942-91BC-FE3730A8523C}"/>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27B84606-02F5-E443-85CF-12450B9011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867B2-3D5C-D84D-AF35-2BA3F3EE19A6}"/>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1770045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7639E-8B95-3447-8FB7-9A76B5AD47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998C7A-0FD4-1E4D-81DB-08E8A4CC55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BA9B7-CB18-7F45-8200-D2AF26CFE9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2A3C03-A357-A74F-9046-9387F23E8FE8}"/>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6" name="Footer Placeholder 5">
            <a:extLst>
              <a:ext uri="{FF2B5EF4-FFF2-40B4-BE49-F238E27FC236}">
                <a16:creationId xmlns:a16="http://schemas.microsoft.com/office/drawing/2014/main" id="{7887EF8B-1680-2E4C-91DD-D26C5246B5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EB15FF-BD96-E145-82E2-4A9958819124}"/>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1323354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0D47B-8EB3-EF41-A2C5-A4C8904AE1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212427-A6BD-AD4B-ADFF-6A5E6DF65D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19F90B-3F02-4947-A8E4-951745C39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2A8CC7-8CBE-1845-8658-F594E15886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E189C-22AD-D446-8AA9-332A44A86D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B839EF-ACA1-A246-91BF-3540D70FB40E}"/>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8" name="Footer Placeholder 7">
            <a:extLst>
              <a:ext uri="{FF2B5EF4-FFF2-40B4-BE49-F238E27FC236}">
                <a16:creationId xmlns:a16="http://schemas.microsoft.com/office/drawing/2014/main" id="{5ADEAC8E-B342-EA46-8523-96F640714C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07444B-A518-334D-A952-B1A2FC38D8C5}"/>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3903199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0C04-1759-4246-B71E-44C6CD9564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2EDF8C-A369-DB45-8BF2-BCECF58A4E58}"/>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4" name="Footer Placeholder 3">
            <a:extLst>
              <a:ext uri="{FF2B5EF4-FFF2-40B4-BE49-F238E27FC236}">
                <a16:creationId xmlns:a16="http://schemas.microsoft.com/office/drawing/2014/main" id="{1913C309-95AE-8A42-804B-FAE121346E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4A440D-367B-E149-B8EF-D37EA4270DD3}"/>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3172947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DDB38-C391-E54E-83C7-64141F3475E8}"/>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3" name="Footer Placeholder 2">
            <a:extLst>
              <a:ext uri="{FF2B5EF4-FFF2-40B4-BE49-F238E27FC236}">
                <a16:creationId xmlns:a16="http://schemas.microsoft.com/office/drawing/2014/main" id="{9C85DCFC-EA99-FB4C-9B44-7F41881E1C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161ABF-12F9-AC4A-A240-37DEB35F2E1D}"/>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790644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D711-2F72-CE46-914C-C377B2CD30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46BABB-D083-0F48-8EC6-F33A9D8064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2E9FE-4BD5-A343-99D5-A097FCE832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D0A38B-6DEA-AF46-9F93-751A27CEBA92}"/>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6" name="Footer Placeholder 5">
            <a:extLst>
              <a:ext uri="{FF2B5EF4-FFF2-40B4-BE49-F238E27FC236}">
                <a16:creationId xmlns:a16="http://schemas.microsoft.com/office/drawing/2014/main" id="{1616D03D-2C39-574F-B652-948272C6DA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5E0976-9323-2448-86EB-654BB319C7EB}"/>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266504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8469-0870-6547-987A-CFDFF316B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EF05A3-D16B-B040-8C70-970A8F83F3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56A346-DFA4-1441-8693-E37E49EDC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E0758E-65D5-A849-97D8-5BFFF1DD4599}"/>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6" name="Footer Placeholder 5">
            <a:extLst>
              <a:ext uri="{FF2B5EF4-FFF2-40B4-BE49-F238E27FC236}">
                <a16:creationId xmlns:a16="http://schemas.microsoft.com/office/drawing/2014/main" id="{858E97FF-4A0B-3A4A-A336-A9DF62268D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9CB833-A375-A040-9444-36CC25C2BC33}"/>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921146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12A4-23C2-7643-BF84-7CAEA0E471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1041C9-F036-6441-AFD0-462419EC6F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9C08F-5D61-A64C-BE31-6CB2BE110B39}"/>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EB83C690-09EC-B747-A343-39BF3E295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EE8DA-4B18-E24A-8314-A780D12B09D6}"/>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365567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7C6B47-4EEC-0B40-8E75-E9B10B03D4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A652F3-6176-1244-B682-362081A82E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EB9B2-AB31-304B-82F7-2D64C586CAB0}"/>
              </a:ext>
            </a:extLst>
          </p:cNvPr>
          <p:cNvSpPr>
            <a:spLocks noGrp="1"/>
          </p:cNvSpPr>
          <p:nvPr>
            <p:ph type="dt" sz="half" idx="10"/>
          </p:nvPr>
        </p:nvSpPr>
        <p:spPr/>
        <p:txBody>
          <a:body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E469A039-1A9C-5E4C-ABE2-7F9CDB24B2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5F0E8-B663-BD4B-AD02-ABE5216E9FAB}"/>
              </a:ext>
            </a:extLst>
          </p:cNvPr>
          <p:cNvSpPr>
            <a:spLocks noGrp="1"/>
          </p:cNvSpPr>
          <p:nvPr>
            <p:ph type="sldNum" sz="quarter" idx="12"/>
          </p:nvPr>
        </p:nvSpPr>
        <p:spPr/>
        <p:txBody>
          <a:bodyPr/>
          <a:lstStyle/>
          <a:p>
            <a:fld id="{1C1D4B92-90D7-C343-9170-B35C52AC1D50}" type="slidenum">
              <a:rPr lang="en-US" smtClean="0"/>
              <a:t>‹#›</a:t>
            </a:fld>
            <a:endParaRPr lang="en-US"/>
          </a:p>
        </p:txBody>
      </p:sp>
    </p:spTree>
    <p:extLst>
      <p:ext uri="{BB962C8B-B14F-4D97-AF65-F5344CB8AC3E}">
        <p14:creationId xmlns:p14="http://schemas.microsoft.com/office/powerpoint/2010/main" val="1563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951243-083C-AD4A-B0EC-39381ACE69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6DAB87-5965-9A49-BA0F-CE81F0FEB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B4698-9BD7-5344-82E2-567C353D62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5CEEC8-18B8-AF4A-BE76-FD1433A7466C}" type="datetimeFigureOut">
              <a:rPr lang="en-US" smtClean="0"/>
              <a:t>4/29/19</a:t>
            </a:fld>
            <a:endParaRPr lang="en-US"/>
          </a:p>
        </p:txBody>
      </p:sp>
      <p:sp>
        <p:nvSpPr>
          <p:cNvPr id="5" name="Footer Placeholder 4">
            <a:extLst>
              <a:ext uri="{FF2B5EF4-FFF2-40B4-BE49-F238E27FC236}">
                <a16:creationId xmlns:a16="http://schemas.microsoft.com/office/drawing/2014/main" id="{4D402846-0AB8-1648-A98B-DBBE5A26AD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06E07D2-037F-7541-924B-50616CF997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1D4B92-90D7-C343-9170-B35C52AC1D50}" type="slidenum">
              <a:rPr lang="en-US" smtClean="0"/>
              <a:t>‹#›</a:t>
            </a:fld>
            <a:endParaRPr lang="en-US"/>
          </a:p>
        </p:txBody>
      </p:sp>
    </p:spTree>
    <p:extLst>
      <p:ext uri="{BB962C8B-B14F-4D97-AF65-F5344CB8AC3E}">
        <p14:creationId xmlns:p14="http://schemas.microsoft.com/office/powerpoint/2010/main" val="112067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planktonchronicles.org/en/episode/siphonophores-the-longest-animals-on-the-planet/" TargetMode="External"/><Relationship Id="rId3" Type="http://schemas.openxmlformats.org/officeDocument/2006/relationships/image" Target="../media/image1.jpeg"/><Relationship Id="rId7" Type="http://schemas.openxmlformats.org/officeDocument/2006/relationships/image" Target="../media/image3.jpeg"/><Relationship Id="rId2" Type="http://schemas.openxmlformats.org/officeDocument/2006/relationships/hyperlink" Target="https://www.wired.com/2014/08/absurd-creature-of-the-week-siphonophore/" TargetMode="External"/><Relationship Id="rId1" Type="http://schemas.openxmlformats.org/officeDocument/2006/relationships/slideLayout" Target="../slideLayouts/slideLayout1.xml"/><Relationship Id="rId6" Type="http://schemas.openxmlformats.org/officeDocument/2006/relationships/hyperlink" Target="https://themarinedetective.com/2017/05/12/giant-siphonophore-prayja-species/" TargetMode="External"/><Relationship Id="rId5" Type="http://schemas.openxmlformats.org/officeDocument/2006/relationships/image" Target="../media/image2.jpeg"/><Relationship Id="rId4" Type="http://schemas.openxmlformats.org/officeDocument/2006/relationships/hyperlink" Target="https://www.google.com/url?sa=i&amp;rct=j&amp;q=&amp;esrc=s&amp;source=images&amp;cd=&amp;cad=rja&amp;uact=8&amp;ved=2ahUKEwjxzdbV7PbhAhUDRqwKHT-4DJkQjRx6BAgBEAU&amp;url=https%3A%2F%2Fen.wikipedia.org%2Fwiki%2FSiphonophorae&amp;psig=AOvVaw2MvS9O9Bz4TNDki2BnP9HZ&amp;ust=1556680436388322" TargetMode="External"/><Relationship Id="rId9"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hyperlink" Target="http://www.siphonophores.org/images/group_comparison_600.jpg" TargetMode="External"/><Relationship Id="rId2" Type="http://schemas.openxmlformats.org/officeDocument/2006/relationships/image" Target="../media/image5.tiff"/><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hyperlink" Target="http://www.siphonophores.org/images/1652_600.jpg" TargetMode="External"/><Relationship Id="rId1" Type="http://schemas.openxmlformats.org/officeDocument/2006/relationships/slideLayout" Target="../slideLayouts/slideLayout2.xml"/><Relationship Id="rId6" Type="http://schemas.openxmlformats.org/officeDocument/2006/relationships/hyperlink" Target="http://www.siphonophores.org/images/3232_600.jpg" TargetMode="External"/><Relationship Id="rId5" Type="http://schemas.openxmlformats.org/officeDocument/2006/relationships/image" Target="../media/image8.jpeg"/><Relationship Id="rId4" Type="http://schemas.openxmlformats.org/officeDocument/2006/relationships/hyperlink" Target="http://www.siphonophores.org/images/2233_600.jpg"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www.theguardian.com/science/gallery/2012/sep/26/siphonophore-longest-animals-on-planet-pictur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www.dailymail.co.uk/sciencetech/article-4773114/Deep-sea-camera-captures-footage-dandelion-animal.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thecreationclub.com/tag/siphonophor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www.seawater.no/fauna/cnidaria/Siphonophorae.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www.naturepl.com/stock-photo-siphonophore-nanomia-portion-of-siphosome-with-at-least-15-cormidia-image01549462.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koryos.tumblr.com/post/92630771581/rhamphotheca-siphonophores-are-colonia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www.wired.com/2017/01/critter-thats-mushy-jellyfish-long-whale/" TargetMode="Externa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www.google.com/url?sa=i&amp;rct=j&amp;q=&amp;esrc=s&amp;source=images&amp;cd=&amp;ved=2ahUKEwiiu7TUjffhAhUDd98KHfbpAmgQjRx6BAgBEAU&amp;url=http%3A%2F%2Fwww.cmarz.org%2FCMarZ_RHBrown_April06%2Fimages_press%2Findex.html&amp;psig=AOvVaw16ukGRhMWP-62KrrSJdh6n&amp;ust=1556688450955309" TargetMode="External"/><Relationship Id="rId1" Type="http://schemas.openxmlformats.org/officeDocument/2006/relationships/slideLayout" Target="../slideLayouts/slideLayout2.xml"/><Relationship Id="rId5" Type="http://schemas.openxmlformats.org/officeDocument/2006/relationships/hyperlink" Target="https://github.com/lemellenthin/Phylo" TargetMode="External"/><Relationship Id="rId4" Type="http://schemas.openxmlformats.org/officeDocument/2006/relationships/hyperlink" Target="https://github.com/caseywdunn/siphonophore_phylogeny_2017"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ideo" Target="https://www.youtube.com/embed/WEiu4eEw4pc?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Image result for siphonophore">
            <a:hlinkClick r:id="rId2"/>
            <a:extLst>
              <a:ext uri="{FF2B5EF4-FFF2-40B4-BE49-F238E27FC236}">
                <a16:creationId xmlns:a16="http://schemas.microsoft.com/office/drawing/2014/main" id="{56FDC1F6-6E69-614A-9D55-B1616CE8E666}"/>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t="30"/>
          <a:stretch/>
        </p:blipFill>
        <p:spPr bwMode="auto">
          <a:xfrm>
            <a:off x="-6" y="-3"/>
            <a:ext cx="12192000" cy="68559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01AAEE-9DEC-E54D-B40C-2440B2E84384}"/>
              </a:ext>
            </a:extLst>
          </p:cNvPr>
          <p:cNvSpPr>
            <a:spLocks noGrp="1"/>
          </p:cNvSpPr>
          <p:nvPr>
            <p:ph type="ctrTitle"/>
          </p:nvPr>
        </p:nvSpPr>
        <p:spPr>
          <a:xfrm>
            <a:off x="4654295" y="4522156"/>
            <a:ext cx="5609222" cy="1363215"/>
          </a:xfrm>
        </p:spPr>
        <p:txBody>
          <a:bodyPr anchor="t">
            <a:normAutofit/>
          </a:bodyPr>
          <a:lstStyle/>
          <a:p>
            <a:pPr algn="l"/>
            <a:r>
              <a:rPr lang="en-US" sz="4800">
                <a:latin typeface="PT Serif Caption" panose="02060603050505020204" pitchFamily="18" charset="77"/>
              </a:rPr>
              <a:t>Siphono-what</a:t>
            </a:r>
            <a:r>
              <a:rPr lang="en-US" sz="4800"/>
              <a:t>?</a:t>
            </a:r>
          </a:p>
        </p:txBody>
      </p:sp>
      <p:sp>
        <p:nvSpPr>
          <p:cNvPr id="3" name="Subtitle 2">
            <a:extLst>
              <a:ext uri="{FF2B5EF4-FFF2-40B4-BE49-F238E27FC236}">
                <a16:creationId xmlns:a16="http://schemas.microsoft.com/office/drawing/2014/main" id="{E0F7C00C-FA29-794A-843F-4ADF4943E83F}"/>
              </a:ext>
            </a:extLst>
          </p:cNvPr>
          <p:cNvSpPr>
            <a:spLocks noGrp="1"/>
          </p:cNvSpPr>
          <p:nvPr>
            <p:ph type="subTitle" idx="1"/>
          </p:nvPr>
        </p:nvSpPr>
        <p:spPr>
          <a:xfrm>
            <a:off x="4654296" y="3780825"/>
            <a:ext cx="5609219" cy="741331"/>
          </a:xfrm>
        </p:spPr>
        <p:txBody>
          <a:bodyPr anchor="b">
            <a:normAutofit/>
          </a:bodyPr>
          <a:lstStyle/>
          <a:p>
            <a:pPr algn="l"/>
            <a:r>
              <a:rPr lang="en-US" sz="2000">
                <a:latin typeface="PT Serif Caption" panose="02060603050505020204" pitchFamily="18" charset="77"/>
              </a:rPr>
              <a:t>Lauren Mellenthin</a:t>
            </a:r>
          </a:p>
        </p:txBody>
      </p:sp>
      <p:sp>
        <p:nvSpPr>
          <p:cNvPr id="77" name="Freeform: Shape 76">
            <a:extLst>
              <a:ext uri="{FF2B5EF4-FFF2-40B4-BE49-F238E27FC236}">
                <a16:creationId xmlns:a16="http://schemas.microsoft.com/office/drawing/2014/main" id="{83FA766D-3260-4E0A-9E7F-A2C93DFF1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46518"/>
            <a:ext cx="4100079" cy="6194580"/>
          </a:xfrm>
          <a:custGeom>
            <a:avLst/>
            <a:gdLst>
              <a:gd name="connsiteX0" fmla="*/ 1002789 w 4100079"/>
              <a:gd name="connsiteY0" fmla="*/ 0 h 6194580"/>
              <a:gd name="connsiteX1" fmla="*/ 4100079 w 4100079"/>
              <a:gd name="connsiteY1" fmla="*/ 3097290 h 6194580"/>
              <a:gd name="connsiteX2" fmla="*/ 1002789 w 4100079"/>
              <a:gd name="connsiteY2" fmla="*/ 6194580 h 6194580"/>
              <a:gd name="connsiteX3" fmla="*/ 81750 w 4100079"/>
              <a:gd name="connsiteY3" fmla="*/ 6055332 h 6194580"/>
              <a:gd name="connsiteX4" fmla="*/ 0 w 4100079"/>
              <a:gd name="connsiteY4" fmla="*/ 6025411 h 6194580"/>
              <a:gd name="connsiteX5" fmla="*/ 0 w 4100079"/>
              <a:gd name="connsiteY5" fmla="*/ 169169 h 6194580"/>
              <a:gd name="connsiteX6" fmla="*/ 81750 w 4100079"/>
              <a:gd name="connsiteY6" fmla="*/ 139248 h 6194580"/>
              <a:gd name="connsiteX7" fmla="*/ 1002789 w 4100079"/>
              <a:gd name="connsiteY7" fmla="*/ 0 h 619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0079" h="6194580">
                <a:moveTo>
                  <a:pt x="1002789" y="0"/>
                </a:moveTo>
                <a:cubicBezTo>
                  <a:pt x="2713375" y="0"/>
                  <a:pt x="4100079" y="1386704"/>
                  <a:pt x="4100079" y="3097290"/>
                </a:cubicBezTo>
                <a:cubicBezTo>
                  <a:pt x="4100079" y="4807876"/>
                  <a:pt x="2713375" y="6194580"/>
                  <a:pt x="1002789" y="6194580"/>
                </a:cubicBezTo>
                <a:cubicBezTo>
                  <a:pt x="682054" y="6194580"/>
                  <a:pt x="372706" y="6145829"/>
                  <a:pt x="81750" y="6055332"/>
                </a:cubicBezTo>
                <a:lnTo>
                  <a:pt x="0" y="6025411"/>
                </a:lnTo>
                <a:lnTo>
                  <a:pt x="0" y="169169"/>
                </a:lnTo>
                <a:lnTo>
                  <a:pt x="81750" y="139248"/>
                </a:lnTo>
                <a:cubicBezTo>
                  <a:pt x="372706" y="48751"/>
                  <a:pt x="682054" y="0"/>
                  <a:pt x="1002789"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mage result for siphonophore">
            <a:hlinkClick r:id="rId4"/>
            <a:extLst>
              <a:ext uri="{FF2B5EF4-FFF2-40B4-BE49-F238E27FC236}">
                <a16:creationId xmlns:a16="http://schemas.microsoft.com/office/drawing/2014/main" id="{56DC861B-F915-2545-8A34-9EBC9D9318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68" r="4384" b="-2"/>
          <a:stretch/>
        </p:blipFill>
        <p:spPr bwMode="auto">
          <a:xfrm>
            <a:off x="-1" y="413156"/>
            <a:ext cx="3933440" cy="5861304"/>
          </a:xfrm>
          <a:custGeom>
            <a:avLst/>
            <a:gdLst>
              <a:gd name="connsiteX0" fmla="*/ 1002788 w 3933440"/>
              <a:gd name="connsiteY0" fmla="*/ 0 h 5861304"/>
              <a:gd name="connsiteX1" fmla="*/ 3933440 w 3933440"/>
              <a:gd name="connsiteY1" fmla="*/ 2930652 h 5861304"/>
              <a:gd name="connsiteX2" fmla="*/ 1002788 w 3933440"/>
              <a:gd name="connsiteY2" fmla="*/ 5861304 h 5861304"/>
              <a:gd name="connsiteX3" fmla="*/ 131302 w 3933440"/>
              <a:gd name="connsiteY3" fmla="*/ 5729548 h 5861304"/>
              <a:gd name="connsiteX4" fmla="*/ 0 w 3933440"/>
              <a:gd name="connsiteY4" fmla="*/ 5681491 h 5861304"/>
              <a:gd name="connsiteX5" fmla="*/ 0 w 3933440"/>
              <a:gd name="connsiteY5" fmla="*/ 179814 h 5861304"/>
              <a:gd name="connsiteX6" fmla="*/ 131302 w 3933440"/>
              <a:gd name="connsiteY6" fmla="*/ 131756 h 5861304"/>
              <a:gd name="connsiteX7" fmla="*/ 1002788 w 3933440"/>
              <a:gd name="connsiteY7" fmla="*/ 0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3440" h="5861304">
                <a:moveTo>
                  <a:pt x="1002788" y="0"/>
                </a:moveTo>
                <a:cubicBezTo>
                  <a:pt x="2621342" y="0"/>
                  <a:pt x="3933440" y="1312098"/>
                  <a:pt x="3933440" y="2930652"/>
                </a:cubicBezTo>
                <a:cubicBezTo>
                  <a:pt x="3933440" y="4549206"/>
                  <a:pt x="2621342" y="5861304"/>
                  <a:pt x="1002788" y="5861304"/>
                </a:cubicBezTo>
                <a:cubicBezTo>
                  <a:pt x="699309" y="5861304"/>
                  <a:pt x="406604" y="5815176"/>
                  <a:pt x="131302" y="5729548"/>
                </a:cubicBezTo>
                <a:lnTo>
                  <a:pt x="0" y="5681491"/>
                </a:lnTo>
                <a:lnTo>
                  <a:pt x="0" y="179814"/>
                </a:lnTo>
                <a:lnTo>
                  <a:pt x="131302" y="131756"/>
                </a:lnTo>
                <a:cubicBezTo>
                  <a:pt x="406604" y="46129"/>
                  <a:pt x="699309" y="0"/>
                  <a:pt x="1002788" y="0"/>
                </a:cubicBezTo>
                <a:close/>
              </a:path>
            </a:pathLst>
          </a:custGeom>
          <a:noFill/>
          <a:extLst>
            <a:ext uri="{909E8E84-426E-40DD-AFC4-6F175D3DCCD1}">
              <a14:hiddenFill xmlns:a14="http://schemas.microsoft.com/office/drawing/2010/main">
                <a:solidFill>
                  <a:srgbClr val="FFFFFF"/>
                </a:solidFill>
              </a14:hiddenFill>
            </a:ext>
          </a:extLst>
        </p:spPr>
      </p:pic>
      <p:sp>
        <p:nvSpPr>
          <p:cNvPr id="79" name="Freeform: Shape 78">
            <a:extLst>
              <a:ext uri="{FF2B5EF4-FFF2-40B4-BE49-F238E27FC236}">
                <a16:creationId xmlns:a16="http://schemas.microsoft.com/office/drawing/2014/main" id="{1D5848C7-DDF4-4EF2-A5C7-F5140BF5A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53543" y="0"/>
            <a:ext cx="3566160" cy="3159748"/>
          </a:xfrm>
          <a:custGeom>
            <a:avLst/>
            <a:gdLst>
              <a:gd name="connsiteX0" fmla="*/ 649888 w 3566160"/>
              <a:gd name="connsiteY0" fmla="*/ 0 h 3159748"/>
              <a:gd name="connsiteX1" fmla="*/ 2916273 w 3566160"/>
              <a:gd name="connsiteY1" fmla="*/ 0 h 3159748"/>
              <a:gd name="connsiteX2" fmla="*/ 2917285 w 3566160"/>
              <a:gd name="connsiteY2" fmla="*/ 757 h 3159748"/>
              <a:gd name="connsiteX3" fmla="*/ 3566160 w 3566160"/>
              <a:gd name="connsiteY3" fmla="*/ 1376668 h 3159748"/>
              <a:gd name="connsiteX4" fmla="*/ 1783080 w 3566160"/>
              <a:gd name="connsiteY4" fmla="*/ 3159748 h 3159748"/>
              <a:gd name="connsiteX5" fmla="*/ 0 w 3566160"/>
              <a:gd name="connsiteY5" fmla="*/ 1376668 h 3159748"/>
              <a:gd name="connsiteX6" fmla="*/ 648876 w 3566160"/>
              <a:gd name="connsiteY6" fmla="*/ 757 h 3159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6160" h="3159748">
                <a:moveTo>
                  <a:pt x="649888" y="0"/>
                </a:moveTo>
                <a:lnTo>
                  <a:pt x="2916273" y="0"/>
                </a:lnTo>
                <a:lnTo>
                  <a:pt x="2917285" y="757"/>
                </a:lnTo>
                <a:cubicBezTo>
                  <a:pt x="3313569" y="327800"/>
                  <a:pt x="3566160" y="822736"/>
                  <a:pt x="3566160" y="1376668"/>
                </a:cubicBezTo>
                <a:cubicBezTo>
                  <a:pt x="3566160" y="2361436"/>
                  <a:pt x="2767848" y="3159748"/>
                  <a:pt x="1783080" y="3159748"/>
                </a:cubicBezTo>
                <a:cubicBezTo>
                  <a:pt x="798312" y="3159748"/>
                  <a:pt x="0" y="2361436"/>
                  <a:pt x="0" y="1376668"/>
                </a:cubicBezTo>
                <a:cubicBezTo>
                  <a:pt x="0" y="822736"/>
                  <a:pt x="252591" y="327800"/>
                  <a:pt x="648876" y="7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32" name="Picture 8" descr="Image result for siphonophore">
            <a:hlinkClick r:id="rId6"/>
            <a:extLst>
              <a:ext uri="{FF2B5EF4-FFF2-40B4-BE49-F238E27FC236}">
                <a16:creationId xmlns:a16="http://schemas.microsoft.com/office/drawing/2014/main" id="{124F3AF5-26F3-2A42-9040-3204D3B8365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657" r="20474"/>
          <a:stretch/>
        </p:blipFill>
        <p:spPr bwMode="auto">
          <a:xfrm>
            <a:off x="4518135" y="10"/>
            <a:ext cx="3236976" cy="2995146"/>
          </a:xfrm>
          <a:custGeom>
            <a:avLst/>
            <a:gdLst>
              <a:gd name="connsiteX0" fmla="*/ 770517 w 3236976"/>
              <a:gd name="connsiteY0" fmla="*/ 0 h 2995156"/>
              <a:gd name="connsiteX1" fmla="*/ 2466460 w 3236976"/>
              <a:gd name="connsiteY1" fmla="*/ 0 h 2995156"/>
              <a:gd name="connsiteX2" fmla="*/ 2523400 w 3236976"/>
              <a:gd name="connsiteY2" fmla="*/ 34592 h 2995156"/>
              <a:gd name="connsiteX3" fmla="*/ 3236976 w 3236976"/>
              <a:gd name="connsiteY3" fmla="*/ 1376668 h 2995156"/>
              <a:gd name="connsiteX4" fmla="*/ 1618488 w 3236976"/>
              <a:gd name="connsiteY4" fmla="*/ 2995156 h 2995156"/>
              <a:gd name="connsiteX5" fmla="*/ 0 w 3236976"/>
              <a:gd name="connsiteY5" fmla="*/ 1376668 h 2995156"/>
              <a:gd name="connsiteX6" fmla="*/ 713576 w 3236976"/>
              <a:gd name="connsiteY6" fmla="*/ 34592 h 299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6976" h="2995156">
                <a:moveTo>
                  <a:pt x="770517" y="0"/>
                </a:moveTo>
                <a:lnTo>
                  <a:pt x="2466460" y="0"/>
                </a:lnTo>
                <a:lnTo>
                  <a:pt x="2523400" y="34592"/>
                </a:lnTo>
                <a:cubicBezTo>
                  <a:pt x="2953921" y="325446"/>
                  <a:pt x="3236976" y="818002"/>
                  <a:pt x="3236976" y="1376668"/>
                </a:cubicBezTo>
                <a:cubicBezTo>
                  <a:pt x="3236976" y="2270534"/>
                  <a:pt x="2512354" y="2995156"/>
                  <a:pt x="1618488" y="2995156"/>
                </a:cubicBezTo>
                <a:cubicBezTo>
                  <a:pt x="724622" y="2995156"/>
                  <a:pt x="0" y="2270534"/>
                  <a:pt x="0" y="1376668"/>
                </a:cubicBezTo>
                <a:cubicBezTo>
                  <a:pt x="0" y="818002"/>
                  <a:pt x="283056" y="325446"/>
                  <a:pt x="713576" y="34592"/>
                </a:cubicBezTo>
                <a:close/>
              </a:path>
            </a:pathLst>
          </a:custGeom>
          <a:noFill/>
          <a:extLst>
            <a:ext uri="{909E8E84-426E-40DD-AFC4-6F175D3DCCD1}">
              <a14:hiddenFill xmlns:a14="http://schemas.microsoft.com/office/drawing/2010/main">
                <a:solidFill>
                  <a:srgbClr val="FFFFFF"/>
                </a:solidFill>
              </a14:hiddenFill>
            </a:ext>
          </a:extLst>
        </p:spPr>
      </p:pic>
      <p:sp>
        <p:nvSpPr>
          <p:cNvPr id="1037" name="Freeform: Shape 80">
            <a:extLst>
              <a:ext uri="{FF2B5EF4-FFF2-40B4-BE49-F238E27FC236}">
                <a16:creationId xmlns:a16="http://schemas.microsoft.com/office/drawing/2014/main" id="{5E10DA6E-C3FF-4539-BF84-4775BB7EC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4396" y="2042"/>
            <a:ext cx="3387604" cy="4183848"/>
          </a:xfrm>
          <a:custGeom>
            <a:avLst/>
            <a:gdLst>
              <a:gd name="connsiteX0" fmla="*/ 420128 w 3387604"/>
              <a:gd name="connsiteY0" fmla="*/ 0 h 4183848"/>
              <a:gd name="connsiteX1" fmla="*/ 3387604 w 3387604"/>
              <a:gd name="connsiteY1" fmla="*/ 0 h 4183848"/>
              <a:gd name="connsiteX2" fmla="*/ 3387604 w 3387604"/>
              <a:gd name="connsiteY2" fmla="*/ 4101530 h 4183848"/>
              <a:gd name="connsiteX3" fmla="*/ 3283372 w 3387604"/>
              <a:gd name="connsiteY3" fmla="*/ 4128330 h 4183848"/>
              <a:gd name="connsiteX4" fmla="*/ 2732648 w 3387604"/>
              <a:gd name="connsiteY4" fmla="*/ 4183848 h 4183848"/>
              <a:gd name="connsiteX5" fmla="*/ 0 w 3387604"/>
              <a:gd name="connsiteY5" fmla="*/ 1451200 h 4183848"/>
              <a:gd name="connsiteX6" fmla="*/ 329816 w 3387604"/>
              <a:gd name="connsiteY6" fmla="*/ 148658 h 4183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7604" h="4183848">
                <a:moveTo>
                  <a:pt x="420128" y="0"/>
                </a:moveTo>
                <a:lnTo>
                  <a:pt x="3387604" y="0"/>
                </a:lnTo>
                <a:lnTo>
                  <a:pt x="3387604" y="4101530"/>
                </a:lnTo>
                <a:lnTo>
                  <a:pt x="3283372" y="4128330"/>
                </a:lnTo>
                <a:cubicBezTo>
                  <a:pt x="3105483" y="4164732"/>
                  <a:pt x="2921298" y="4183848"/>
                  <a:pt x="2732648" y="4183848"/>
                </a:cubicBezTo>
                <a:cubicBezTo>
                  <a:pt x="1223448" y="4183848"/>
                  <a:pt x="0" y="2960400"/>
                  <a:pt x="0" y="1451200"/>
                </a:cubicBezTo>
                <a:cubicBezTo>
                  <a:pt x="0" y="979575"/>
                  <a:pt x="119477" y="535856"/>
                  <a:pt x="329816" y="14865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30" name="Picture 6" descr="Image result for siphonophore">
            <a:hlinkClick r:id="rId8"/>
            <a:extLst>
              <a:ext uri="{FF2B5EF4-FFF2-40B4-BE49-F238E27FC236}">
                <a16:creationId xmlns:a16="http://schemas.microsoft.com/office/drawing/2014/main" id="{4A8F0CF4-91CB-9048-9586-2D1D035D701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381" b="3"/>
          <a:stretch/>
        </p:blipFill>
        <p:spPr bwMode="auto">
          <a:xfrm>
            <a:off x="8967592" y="2042"/>
            <a:ext cx="3224421" cy="4020664"/>
          </a:xfrm>
          <a:custGeom>
            <a:avLst/>
            <a:gdLst>
              <a:gd name="connsiteX0" fmla="*/ 449733 w 3224421"/>
              <a:gd name="connsiteY0" fmla="*/ 0 h 4020664"/>
              <a:gd name="connsiteX1" fmla="*/ 3224421 w 3224421"/>
              <a:gd name="connsiteY1" fmla="*/ 0 h 4020664"/>
              <a:gd name="connsiteX2" fmla="*/ 3224421 w 3224421"/>
              <a:gd name="connsiteY2" fmla="*/ 3933205 h 4020664"/>
              <a:gd name="connsiteX3" fmla="*/ 3087301 w 3224421"/>
              <a:gd name="connsiteY3" fmla="*/ 3968462 h 4020664"/>
              <a:gd name="connsiteX4" fmla="*/ 2569464 w 3224421"/>
              <a:gd name="connsiteY4" fmla="*/ 4020664 h 4020664"/>
              <a:gd name="connsiteX5" fmla="*/ 0 w 3224421"/>
              <a:gd name="connsiteY5" fmla="*/ 1451200 h 4020664"/>
              <a:gd name="connsiteX6" fmla="*/ 438824 w 3224421"/>
              <a:gd name="connsiteY6" fmla="*/ 14588 h 402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21" h="4020664">
                <a:moveTo>
                  <a:pt x="449733" y="0"/>
                </a:moveTo>
                <a:lnTo>
                  <a:pt x="3224421" y="0"/>
                </a:lnTo>
                <a:lnTo>
                  <a:pt x="3224421" y="3933205"/>
                </a:lnTo>
                <a:lnTo>
                  <a:pt x="3087301" y="3968462"/>
                </a:lnTo>
                <a:cubicBezTo>
                  <a:pt x="2920035" y="4002689"/>
                  <a:pt x="2746849" y="4020664"/>
                  <a:pt x="2569464" y="4020664"/>
                </a:cubicBezTo>
                <a:cubicBezTo>
                  <a:pt x="1150388" y="4020664"/>
                  <a:pt x="0" y="2870276"/>
                  <a:pt x="0" y="1451200"/>
                </a:cubicBezTo>
                <a:cubicBezTo>
                  <a:pt x="0" y="919047"/>
                  <a:pt x="161773" y="424677"/>
                  <a:pt x="438824" y="14588"/>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63168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02F3C71-C981-4614-98EA-D6C494F80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3" y="321176"/>
            <a:ext cx="717424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C10C51-BFB4-B543-ACAE-C0C423BAF812}"/>
              </a:ext>
            </a:extLst>
          </p:cNvPr>
          <p:cNvSpPr>
            <a:spLocks noGrp="1"/>
          </p:cNvSpPr>
          <p:nvPr>
            <p:ph type="title"/>
          </p:nvPr>
        </p:nvSpPr>
        <p:spPr>
          <a:xfrm>
            <a:off x="821516" y="640263"/>
            <a:ext cx="6204984" cy="1344975"/>
          </a:xfrm>
        </p:spPr>
        <p:txBody>
          <a:bodyPr>
            <a:normAutofit/>
          </a:bodyPr>
          <a:lstStyle/>
          <a:p>
            <a:r>
              <a:rPr lang="en-US" sz="4000">
                <a:latin typeface="PT Serif Caption" panose="02060603050505020204" pitchFamily="18" charset="77"/>
              </a:rPr>
              <a:t>Introduction: What are siphonophores</a:t>
            </a:r>
          </a:p>
        </p:txBody>
      </p:sp>
      <p:sp>
        <p:nvSpPr>
          <p:cNvPr id="6" name="Content Placeholder 2">
            <a:extLst>
              <a:ext uri="{FF2B5EF4-FFF2-40B4-BE49-F238E27FC236}">
                <a16:creationId xmlns:a16="http://schemas.microsoft.com/office/drawing/2014/main" id="{548B6433-80A4-404C-863A-89E1487B6F41}"/>
              </a:ext>
            </a:extLst>
          </p:cNvPr>
          <p:cNvSpPr>
            <a:spLocks noGrp="1"/>
          </p:cNvSpPr>
          <p:nvPr>
            <p:ph idx="1"/>
          </p:nvPr>
        </p:nvSpPr>
        <p:spPr>
          <a:xfrm>
            <a:off x="821515" y="2121762"/>
            <a:ext cx="6204984" cy="3626917"/>
          </a:xfrm>
        </p:spPr>
        <p:txBody>
          <a:bodyPr>
            <a:normAutofit lnSpcReduction="10000"/>
          </a:bodyPr>
          <a:lstStyle/>
          <a:p>
            <a:r>
              <a:rPr lang="en-US" sz="2400" dirty="0">
                <a:latin typeface="PT Serif Caption" panose="02060603050505020204" pitchFamily="18" charset="77"/>
              </a:rPr>
              <a:t>Phylum: Cnidaria</a:t>
            </a:r>
          </a:p>
          <a:p>
            <a:r>
              <a:rPr lang="en-US" sz="2400" dirty="0">
                <a:latin typeface="PT Serif Caption" panose="02060603050505020204" pitchFamily="18" charset="77"/>
              </a:rPr>
              <a:t>Class: Hydrozoa</a:t>
            </a:r>
          </a:p>
          <a:p>
            <a:r>
              <a:rPr lang="en-US" sz="2400" dirty="0">
                <a:latin typeface="PT Serif Caption" panose="02060603050505020204" pitchFamily="18" charset="77"/>
              </a:rPr>
              <a:t>Order: Siphonophorae</a:t>
            </a:r>
          </a:p>
          <a:p>
            <a:r>
              <a:rPr lang="en-US" sz="2400" dirty="0">
                <a:latin typeface="PT Serif Caption" panose="02060603050505020204" pitchFamily="18" charset="77"/>
              </a:rPr>
              <a:t>~175 species currently known</a:t>
            </a:r>
          </a:p>
          <a:p>
            <a:r>
              <a:rPr lang="en-US" sz="2400" dirty="0">
                <a:latin typeface="PT Serif Caption" panose="02060603050505020204" pitchFamily="18" charset="77"/>
              </a:rPr>
              <a:t>Colonial animals with specialized zooids with each one function</a:t>
            </a:r>
          </a:p>
          <a:p>
            <a:r>
              <a:rPr lang="en-US" sz="2400" dirty="0">
                <a:latin typeface="PT Serif Caption" panose="02060603050505020204" pitchFamily="18" charset="77"/>
              </a:rPr>
              <a:t>There are three main ‘types’ of siphonophores based on the types of zooids present</a:t>
            </a:r>
          </a:p>
          <a:p>
            <a:endParaRPr lang="en-US" sz="2400" dirty="0"/>
          </a:p>
        </p:txBody>
      </p:sp>
      <p:pic>
        <p:nvPicPr>
          <p:cNvPr id="7" name="Picture 6" descr="A picture containing text&#10;&#10;Description automatically generated">
            <a:extLst>
              <a:ext uri="{FF2B5EF4-FFF2-40B4-BE49-F238E27FC236}">
                <a16:creationId xmlns:a16="http://schemas.microsoft.com/office/drawing/2014/main" id="{6F7C01F5-D397-734F-9FA2-7999BDACC250}"/>
              </a:ext>
            </a:extLst>
          </p:cNvPr>
          <p:cNvPicPr>
            <a:picLocks noChangeAspect="1"/>
          </p:cNvPicPr>
          <p:nvPr/>
        </p:nvPicPr>
        <p:blipFill>
          <a:blip r:embed="rId2"/>
          <a:stretch>
            <a:fillRect/>
          </a:stretch>
        </p:blipFill>
        <p:spPr>
          <a:xfrm>
            <a:off x="7829551" y="550473"/>
            <a:ext cx="4042409" cy="1798872"/>
          </a:xfrm>
          <a:prstGeom prst="rect">
            <a:avLst/>
          </a:prstGeom>
        </p:spPr>
      </p:pic>
      <p:pic>
        <p:nvPicPr>
          <p:cNvPr id="2050" name="Picture 2" descr="/var/folders/vk/g8yt6m8s0w3fbcdj0hkpfqyh0000gn/T/com.microsoft.Powerpoint/WebArchiveCopyPasteTempFiles/small_group_comparison.jpg">
            <a:hlinkClick r:id="rId3"/>
            <a:extLst>
              <a:ext uri="{FF2B5EF4-FFF2-40B4-BE49-F238E27FC236}">
                <a16:creationId xmlns:a16="http://schemas.microsoft.com/office/drawing/2014/main" id="{3729A7AC-4137-6345-8040-120FD2498F5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130454" y="2828925"/>
            <a:ext cx="3440603" cy="3388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523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4841EA57-DEA6-4BE9-B11E-1FBCC76BE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var/folders/vk/g8yt6m8s0w3fbcdj0hkpfqyh0000gn/T/com.microsoft.Powerpoint/WebArchiveCopyPasteTempFiles/small1652.jpg">
            <a:hlinkClick r:id="rId2"/>
            <a:extLst>
              <a:ext uri="{FF2B5EF4-FFF2-40B4-BE49-F238E27FC236}">
                <a16:creationId xmlns:a16="http://schemas.microsoft.com/office/drawing/2014/main" id="{F0C62230-19F4-A544-B135-D279FEC1B4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533" r="-3" b="31821"/>
          <a:stretch/>
        </p:blipFill>
        <p:spPr bwMode="auto">
          <a:xfrm>
            <a:off x="5926240" y="10"/>
            <a:ext cx="6265758" cy="2285990"/>
          </a:xfrm>
          <a:custGeom>
            <a:avLst/>
            <a:gdLst>
              <a:gd name="connsiteX0" fmla="*/ 0 w 6265758"/>
              <a:gd name="connsiteY0" fmla="*/ 0 h 2286000"/>
              <a:gd name="connsiteX1" fmla="*/ 6265758 w 6265758"/>
              <a:gd name="connsiteY1" fmla="*/ 0 h 2286000"/>
              <a:gd name="connsiteX2" fmla="*/ 6265758 w 6265758"/>
              <a:gd name="connsiteY2" fmla="*/ 2286000 h 2286000"/>
              <a:gd name="connsiteX3" fmla="*/ 1062168 w 6265758"/>
              <a:gd name="connsiteY3" fmla="*/ 2286000 h 2286000"/>
              <a:gd name="connsiteX4" fmla="*/ 790683 w 6265758"/>
              <a:gd name="connsiteY4" fmla="*/ 1700078 h 2286000"/>
              <a:gd name="connsiteX5" fmla="*/ 787725 w 6265758"/>
              <a:gd name="connsiteY5" fmla="*/ 1700078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5758" h="2286000">
                <a:moveTo>
                  <a:pt x="0" y="0"/>
                </a:moveTo>
                <a:lnTo>
                  <a:pt x="6265758" y="0"/>
                </a:lnTo>
                <a:lnTo>
                  <a:pt x="6265758" y="2286000"/>
                </a:lnTo>
                <a:lnTo>
                  <a:pt x="1062168" y="2286000"/>
                </a:lnTo>
                <a:lnTo>
                  <a:pt x="790683" y="1700078"/>
                </a:lnTo>
                <a:lnTo>
                  <a:pt x="787725" y="1700078"/>
                </a:lnTo>
                <a:close/>
              </a:path>
            </a:pathLst>
          </a:custGeom>
          <a:noFill/>
          <a:extLst>
            <a:ext uri="{909E8E84-426E-40DD-AFC4-6F175D3DCCD1}">
              <a14:hiddenFill xmlns:a14="http://schemas.microsoft.com/office/drawing/2010/main">
                <a:solidFill>
                  <a:srgbClr val="FFFFFF"/>
                </a:solidFill>
              </a14:hiddenFill>
            </a:ext>
          </a:extLst>
        </p:spPr>
      </p:pic>
      <p:pic>
        <p:nvPicPr>
          <p:cNvPr id="3078" name="Picture 6" descr="/var/folders/vk/g8yt6m8s0w3fbcdj0hkpfqyh0000gn/T/com.microsoft.Powerpoint/WebArchiveCopyPasteTempFiles/small2233.jpg">
            <a:hlinkClick r:id="rId4"/>
            <a:extLst>
              <a:ext uri="{FF2B5EF4-FFF2-40B4-BE49-F238E27FC236}">
                <a16:creationId xmlns:a16="http://schemas.microsoft.com/office/drawing/2014/main" id="{E70BCDFD-9023-8242-8362-E8AB1CFA02C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711" b="27714"/>
          <a:stretch/>
        </p:blipFill>
        <p:spPr bwMode="auto">
          <a:xfrm>
            <a:off x="6988408" y="2286000"/>
            <a:ext cx="5203590" cy="2286000"/>
          </a:xfrm>
          <a:custGeom>
            <a:avLst/>
            <a:gdLst>
              <a:gd name="connsiteX0" fmla="*/ 0 w 5203590"/>
              <a:gd name="connsiteY0" fmla="*/ 0 h 2286000"/>
              <a:gd name="connsiteX1" fmla="*/ 5203590 w 5203590"/>
              <a:gd name="connsiteY1" fmla="*/ 0 h 2286000"/>
              <a:gd name="connsiteX2" fmla="*/ 5203590 w 5203590"/>
              <a:gd name="connsiteY2" fmla="*/ 2286000 h 2286000"/>
              <a:gd name="connsiteX3" fmla="*/ 1059212 w 5203590"/>
              <a:gd name="connsiteY3" fmla="*/ 2286000 h 2286000"/>
              <a:gd name="connsiteX4" fmla="*/ 925708 w 5203590"/>
              <a:gd name="connsiteY4" fmla="*/ 1997870 h 2286000"/>
              <a:gd name="connsiteX5" fmla="*/ 925707 w 5203590"/>
              <a:gd name="connsiteY5" fmla="*/ 199787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3590" h="2286000">
                <a:moveTo>
                  <a:pt x="0" y="0"/>
                </a:moveTo>
                <a:lnTo>
                  <a:pt x="5203590" y="0"/>
                </a:lnTo>
                <a:lnTo>
                  <a:pt x="5203590" y="2286000"/>
                </a:lnTo>
                <a:lnTo>
                  <a:pt x="1059212" y="2286000"/>
                </a:lnTo>
                <a:lnTo>
                  <a:pt x="925708" y="1997870"/>
                </a:lnTo>
                <a:lnTo>
                  <a:pt x="925707" y="1997870"/>
                </a:lnTo>
                <a:close/>
              </a:path>
            </a:pathLst>
          </a:custGeom>
          <a:noFill/>
          <a:extLst>
            <a:ext uri="{909E8E84-426E-40DD-AFC4-6F175D3DCCD1}">
              <a14:hiddenFill xmlns:a14="http://schemas.microsoft.com/office/drawing/2010/main">
                <a:solidFill>
                  <a:srgbClr val="FFFFFF"/>
                </a:solidFill>
              </a14:hiddenFill>
            </a:ext>
          </a:extLst>
        </p:spPr>
      </p:pic>
      <p:pic>
        <p:nvPicPr>
          <p:cNvPr id="3074" name="Picture 2" descr="/var/folders/vk/g8yt6m8s0w3fbcdj0hkpfqyh0000gn/T/com.microsoft.Powerpoint/WebArchiveCopyPasteTempFiles/small3232.jpg">
            <a:hlinkClick r:id="rId6"/>
            <a:extLst>
              <a:ext uri="{FF2B5EF4-FFF2-40B4-BE49-F238E27FC236}">
                <a16:creationId xmlns:a16="http://schemas.microsoft.com/office/drawing/2014/main" id="{36F4EEA9-E0C5-EB45-812D-6FE3A8FF8E9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4069" r="3" b="44563"/>
          <a:stretch/>
        </p:blipFill>
        <p:spPr bwMode="auto">
          <a:xfrm>
            <a:off x="8047618" y="4572000"/>
            <a:ext cx="4144382" cy="2286000"/>
          </a:xfrm>
          <a:custGeom>
            <a:avLst/>
            <a:gdLst>
              <a:gd name="connsiteX0" fmla="*/ 0 w 4144382"/>
              <a:gd name="connsiteY0" fmla="*/ 0 h 2286000"/>
              <a:gd name="connsiteX1" fmla="*/ 4144382 w 4144382"/>
              <a:gd name="connsiteY1" fmla="*/ 0 h 2286000"/>
              <a:gd name="connsiteX2" fmla="*/ 4144382 w 4144382"/>
              <a:gd name="connsiteY2" fmla="*/ 2286000 h 2286000"/>
              <a:gd name="connsiteX3" fmla="*/ 1054581 w 4144382"/>
              <a:gd name="connsiteY3" fmla="*/ 2286000 h 2286000"/>
              <a:gd name="connsiteX4" fmla="*/ 1054581 w 4144382"/>
              <a:gd name="connsiteY4" fmla="*/ 2285999 h 2286000"/>
              <a:gd name="connsiteX5" fmla="*/ 1059211 w 4144382"/>
              <a:gd name="connsiteY5" fmla="*/ 2285999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4382" h="2286000">
                <a:moveTo>
                  <a:pt x="0" y="0"/>
                </a:moveTo>
                <a:lnTo>
                  <a:pt x="4144382" y="0"/>
                </a:lnTo>
                <a:lnTo>
                  <a:pt x="4144382" y="2286000"/>
                </a:lnTo>
                <a:lnTo>
                  <a:pt x="1054581" y="2286000"/>
                </a:lnTo>
                <a:lnTo>
                  <a:pt x="1054581" y="2285999"/>
                </a:lnTo>
                <a:lnTo>
                  <a:pt x="1059211" y="2285999"/>
                </a:lnTo>
                <a:close/>
              </a:path>
            </a:pathLst>
          </a:custGeom>
          <a:noFill/>
          <a:extLst>
            <a:ext uri="{909E8E84-426E-40DD-AFC4-6F175D3DCCD1}">
              <a14:hiddenFill xmlns:a14="http://schemas.microsoft.com/office/drawing/2010/main">
                <a:solidFill>
                  <a:srgbClr val="FFFFFF"/>
                </a:solidFill>
              </a14:hiddenFill>
            </a:ext>
          </a:extLst>
        </p:spPr>
      </p:pic>
      <p:sp>
        <p:nvSpPr>
          <p:cNvPr id="3082" name="Freeform 15">
            <a:extLst>
              <a:ext uri="{FF2B5EF4-FFF2-40B4-BE49-F238E27FC236}">
                <a16:creationId xmlns:a16="http://schemas.microsoft.com/office/drawing/2014/main" id="{A26922E4-CEB0-4BFE-BAD1-403E6A417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0203" cy="6858000"/>
          </a:xfrm>
          <a:custGeom>
            <a:avLst/>
            <a:gdLst>
              <a:gd name="connsiteX0" fmla="*/ 0 w 9590203"/>
              <a:gd name="connsiteY0" fmla="*/ 0 h 6858000"/>
              <a:gd name="connsiteX1" fmla="*/ 6414049 w 9590203"/>
              <a:gd name="connsiteY1" fmla="*/ 0 h 6858000"/>
              <a:gd name="connsiteX2" fmla="*/ 9590203 w 9590203"/>
              <a:gd name="connsiteY2" fmla="*/ 6858000 h 6858000"/>
              <a:gd name="connsiteX3" fmla="*/ 0 w 959020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590203" h="6858000">
                <a:moveTo>
                  <a:pt x="0" y="0"/>
                </a:moveTo>
                <a:lnTo>
                  <a:pt x="6414049" y="0"/>
                </a:lnTo>
                <a:lnTo>
                  <a:pt x="9590203" y="6858000"/>
                </a:lnTo>
                <a:lnTo>
                  <a:pt x="0" y="6858000"/>
                </a:ln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C10C51-BFB4-B543-ACAE-C0C423BAF812}"/>
              </a:ext>
            </a:extLst>
          </p:cNvPr>
          <p:cNvSpPr>
            <a:spLocks noGrp="1"/>
          </p:cNvSpPr>
          <p:nvPr>
            <p:ph type="title"/>
          </p:nvPr>
        </p:nvSpPr>
        <p:spPr>
          <a:xfrm>
            <a:off x="57777" y="305491"/>
            <a:ext cx="6265758" cy="1781726"/>
          </a:xfrm>
        </p:spPr>
        <p:txBody>
          <a:bodyPr>
            <a:normAutofit/>
          </a:bodyPr>
          <a:lstStyle/>
          <a:p>
            <a:r>
              <a:rPr lang="en-US" sz="4000" dirty="0">
                <a:solidFill>
                  <a:srgbClr val="000000"/>
                </a:solidFill>
                <a:latin typeface="PT Serif Caption" panose="02060603050505020204" pitchFamily="18" charset="77"/>
              </a:rPr>
              <a:t>Introduction: Why are they hard to study</a:t>
            </a:r>
          </a:p>
        </p:txBody>
      </p:sp>
      <p:sp>
        <p:nvSpPr>
          <p:cNvPr id="3" name="Content Placeholder 2">
            <a:extLst>
              <a:ext uri="{FF2B5EF4-FFF2-40B4-BE49-F238E27FC236}">
                <a16:creationId xmlns:a16="http://schemas.microsoft.com/office/drawing/2014/main" id="{441F4783-AECE-7C43-A8C2-DFA4C6042AB0}"/>
              </a:ext>
            </a:extLst>
          </p:cNvPr>
          <p:cNvSpPr>
            <a:spLocks noGrp="1"/>
          </p:cNvSpPr>
          <p:nvPr>
            <p:ph idx="1"/>
          </p:nvPr>
        </p:nvSpPr>
        <p:spPr>
          <a:xfrm>
            <a:off x="466154" y="2286000"/>
            <a:ext cx="6265758" cy="3759095"/>
          </a:xfrm>
        </p:spPr>
        <p:txBody>
          <a:bodyPr>
            <a:noAutofit/>
          </a:bodyPr>
          <a:lstStyle/>
          <a:p>
            <a:r>
              <a:rPr lang="en-US" sz="2400" dirty="0">
                <a:solidFill>
                  <a:srgbClr val="000000"/>
                </a:solidFill>
                <a:latin typeface="PT Serif Caption" panose="02060603050505020204" pitchFamily="18" charset="77"/>
              </a:rPr>
              <a:t>With the exception of one species, most siphonophores are found deep within the water column because they are predatory, ambush animals</a:t>
            </a:r>
          </a:p>
          <a:p>
            <a:r>
              <a:rPr lang="en-US" sz="2400" dirty="0">
                <a:solidFill>
                  <a:srgbClr val="000000"/>
                </a:solidFill>
                <a:latin typeface="PT Serif Caption" panose="02060603050505020204" pitchFamily="18" charset="77"/>
              </a:rPr>
              <a:t>Can collect by blue water diving by hand</a:t>
            </a:r>
          </a:p>
          <a:p>
            <a:r>
              <a:rPr lang="en-US" sz="2400" dirty="0">
                <a:solidFill>
                  <a:srgbClr val="000000"/>
                </a:solidFill>
                <a:latin typeface="PT Serif Caption" panose="02060603050505020204" pitchFamily="18" charset="77"/>
              </a:rPr>
              <a:t>Can collect with ROVs</a:t>
            </a:r>
          </a:p>
          <a:p>
            <a:r>
              <a:rPr lang="en-US" sz="2400" dirty="0">
                <a:solidFill>
                  <a:srgbClr val="000000"/>
                </a:solidFill>
                <a:latin typeface="PT Serif Caption" panose="02060603050505020204" pitchFamily="18" charset="77"/>
              </a:rPr>
              <a:t>Have not been able to grow and maintain siphonophores in laboratory environment YET!</a:t>
            </a:r>
          </a:p>
        </p:txBody>
      </p:sp>
    </p:spTree>
    <p:extLst>
      <p:ext uri="{BB962C8B-B14F-4D97-AF65-F5344CB8AC3E}">
        <p14:creationId xmlns:p14="http://schemas.microsoft.com/office/powerpoint/2010/main" val="295017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0C51-BFB4-B543-ACAE-C0C423BAF812}"/>
              </a:ext>
            </a:extLst>
          </p:cNvPr>
          <p:cNvSpPr>
            <a:spLocks noGrp="1"/>
          </p:cNvSpPr>
          <p:nvPr>
            <p:ph type="title"/>
          </p:nvPr>
        </p:nvSpPr>
        <p:spPr>
          <a:xfrm>
            <a:off x="6096000" y="147522"/>
            <a:ext cx="5244301" cy="1538130"/>
          </a:xfrm>
        </p:spPr>
        <p:txBody>
          <a:bodyPr>
            <a:normAutofit/>
          </a:bodyPr>
          <a:lstStyle/>
          <a:p>
            <a:r>
              <a:rPr lang="en-US" dirty="0">
                <a:latin typeface="PT Serif Caption" panose="02060603050505020204" pitchFamily="18" charset="77"/>
              </a:rPr>
              <a:t>Introduction: What is known?</a:t>
            </a:r>
          </a:p>
        </p:txBody>
      </p:sp>
      <p:sp>
        <p:nvSpPr>
          <p:cNvPr id="9" name="Freeform 6">
            <a:extLst>
              <a:ext uri="{FF2B5EF4-FFF2-40B4-BE49-F238E27FC236}">
                <a16:creationId xmlns:a16="http://schemas.microsoft.com/office/drawing/2014/main" id="{B6C29DB0-17E9-42FF-986E-0B7F493F4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99584"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6">
            <a:extLst>
              <a:ext uri="{FF2B5EF4-FFF2-40B4-BE49-F238E27FC236}">
                <a16:creationId xmlns:a16="http://schemas.microsoft.com/office/drawing/2014/main" id="{115AD956-A5B6-4760-B8B2-11E2DF6B0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sp>
      <p:pic>
        <p:nvPicPr>
          <p:cNvPr id="4" name="New picture">
            <a:extLst>
              <a:ext uri="{FF2B5EF4-FFF2-40B4-BE49-F238E27FC236}">
                <a16:creationId xmlns:a16="http://schemas.microsoft.com/office/drawing/2014/main" id="{D770EB20-ED14-9140-BA7E-2A223A2C8AB1}"/>
              </a:ext>
            </a:extLst>
          </p:cNvPr>
          <p:cNvPicPr/>
          <p:nvPr/>
        </p:nvPicPr>
        <p:blipFill>
          <a:blip r:embed="rId2"/>
          <a:stretch>
            <a:fillRect/>
          </a:stretch>
        </p:blipFill>
        <p:spPr>
          <a:xfrm>
            <a:off x="1480173" y="1537431"/>
            <a:ext cx="3267942" cy="3774544"/>
          </a:xfrm>
          <a:prstGeom prst="rect">
            <a:avLst/>
          </a:prstGeom>
        </p:spPr>
      </p:pic>
      <p:sp>
        <p:nvSpPr>
          <p:cNvPr id="3" name="Content Placeholder 2">
            <a:extLst>
              <a:ext uri="{FF2B5EF4-FFF2-40B4-BE49-F238E27FC236}">
                <a16:creationId xmlns:a16="http://schemas.microsoft.com/office/drawing/2014/main" id="{441F4783-AECE-7C43-A8C2-DFA4C6042AB0}"/>
              </a:ext>
            </a:extLst>
          </p:cNvPr>
          <p:cNvSpPr>
            <a:spLocks noGrp="1"/>
          </p:cNvSpPr>
          <p:nvPr>
            <p:ph idx="1"/>
          </p:nvPr>
        </p:nvSpPr>
        <p:spPr>
          <a:xfrm>
            <a:off x="5911158" y="2266123"/>
            <a:ext cx="5383652" cy="3910840"/>
          </a:xfrm>
        </p:spPr>
        <p:txBody>
          <a:bodyPr>
            <a:normAutofit fontScale="92500" lnSpcReduction="10000"/>
          </a:bodyPr>
          <a:lstStyle/>
          <a:p>
            <a:r>
              <a:rPr lang="en-US" altLang="en-US" sz="2600" b="0" dirty="0">
                <a:latin typeface="PT Serif Caption" panose="02060603050505020204" pitchFamily="18" charset="77"/>
              </a:rPr>
              <a:t>The first phylogeny from two genes </a:t>
            </a:r>
            <a:r>
              <a:rPr lang="en-US" altLang="en-US" sz="2600" dirty="0">
                <a:latin typeface="PT Serif Caption" panose="02060603050505020204" pitchFamily="18" charset="77"/>
              </a:rPr>
              <a:t>from Casey Dunn in 2005</a:t>
            </a:r>
          </a:p>
          <a:p>
            <a:r>
              <a:rPr lang="en-US" sz="2600" dirty="0">
                <a:latin typeface="PT Serif Caption" panose="02060603050505020204" pitchFamily="18" charset="77"/>
              </a:rPr>
              <a:t>Nuclear small subunit ribosomal RNA gene (18S) and the mitochondrial large subunit ribosomal RNA gene (16S)</a:t>
            </a:r>
            <a:endParaRPr lang="en-US" altLang="en-US" sz="2600" dirty="0">
              <a:latin typeface="PT Serif Caption" panose="02060603050505020204" pitchFamily="18" charset="77"/>
            </a:endParaRPr>
          </a:p>
          <a:p>
            <a:r>
              <a:rPr lang="en-US" altLang="en-US" sz="2600" b="0" dirty="0">
                <a:latin typeface="PT Serif Caption" panose="02060603050505020204" pitchFamily="18" charset="77"/>
              </a:rPr>
              <a:t>Consensus tree of all post burn-in trees for the Bayesian analysis of the combined data set</a:t>
            </a:r>
          </a:p>
          <a:p>
            <a:r>
              <a:rPr lang="en-US" altLang="en-US" sz="1300" dirty="0">
                <a:latin typeface="PT Serif Caption" panose="02060603050505020204" pitchFamily="18" charset="77"/>
              </a:rPr>
              <a:t>Systematic Biology, Volume 54, Issue 6, December 2005, Pages 916–935, https://</a:t>
            </a:r>
            <a:r>
              <a:rPr lang="en-US" altLang="en-US" sz="1300" dirty="0" err="1">
                <a:latin typeface="PT Serif Caption" panose="02060603050505020204" pitchFamily="18" charset="77"/>
              </a:rPr>
              <a:t>doi.org</a:t>
            </a:r>
            <a:r>
              <a:rPr lang="en-US" altLang="en-US" sz="1300" dirty="0">
                <a:latin typeface="PT Serif Caption" panose="02060603050505020204" pitchFamily="18" charset="77"/>
              </a:rPr>
              <a:t>/10.1080/10635150500354837</a:t>
            </a:r>
          </a:p>
          <a:p>
            <a:pPr marL="0" indent="0">
              <a:buNone/>
            </a:pPr>
            <a:endParaRPr lang="en-US" sz="2400" dirty="0"/>
          </a:p>
        </p:txBody>
      </p:sp>
    </p:spTree>
    <p:extLst>
      <p:ext uri="{BB962C8B-B14F-4D97-AF65-F5344CB8AC3E}">
        <p14:creationId xmlns:p14="http://schemas.microsoft.com/office/powerpoint/2010/main" val="2296653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446A18-B2BC-7543-8F65-67863A6308A5}"/>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New phylogeny</a:t>
            </a:r>
          </a:p>
        </p:txBody>
      </p:sp>
      <p:sp>
        <p:nvSpPr>
          <p:cNvPr id="3" name="Content Placeholder 2">
            <a:extLst>
              <a:ext uri="{FF2B5EF4-FFF2-40B4-BE49-F238E27FC236}">
                <a16:creationId xmlns:a16="http://schemas.microsoft.com/office/drawing/2014/main" id="{1ADAC8E9-972E-C748-99C5-5009E1DA6BAA}"/>
              </a:ext>
            </a:extLst>
          </p:cNvPr>
          <p:cNvSpPr>
            <a:spLocks noGrp="1"/>
          </p:cNvSpPr>
          <p:nvPr>
            <p:ph idx="1"/>
          </p:nvPr>
        </p:nvSpPr>
        <p:spPr>
          <a:xfrm>
            <a:off x="643468" y="2638044"/>
            <a:ext cx="3363974" cy="3415622"/>
          </a:xfrm>
        </p:spPr>
        <p:txBody>
          <a:bodyPr>
            <a:normAutofit fontScale="92500" lnSpcReduction="10000"/>
          </a:bodyPr>
          <a:lstStyle/>
          <a:p>
            <a:r>
              <a:rPr lang="en-US" sz="2000" dirty="0">
                <a:solidFill>
                  <a:schemeClr val="bg1"/>
                </a:solidFill>
                <a:latin typeface="PT Serif Caption" panose="02060603050505020204" pitchFamily="18" charset="77"/>
              </a:rPr>
              <a:t>New phylogeny published in 2017 by Catriona Munro</a:t>
            </a:r>
          </a:p>
          <a:p>
            <a:r>
              <a:rPr lang="en-US" sz="2000" dirty="0">
                <a:solidFill>
                  <a:schemeClr val="bg1"/>
                </a:solidFill>
                <a:latin typeface="PT Serif Caption" panose="02060603050505020204" pitchFamily="18" charset="77"/>
              </a:rPr>
              <a:t>Used new transcriptome data from 29 species</a:t>
            </a:r>
          </a:p>
          <a:p>
            <a:r>
              <a:rPr lang="en-US" sz="2000" dirty="0">
                <a:solidFill>
                  <a:schemeClr val="bg1"/>
                </a:solidFill>
                <a:latin typeface="PT Serif Caption" panose="02060603050505020204" pitchFamily="18" charset="77"/>
              </a:rPr>
              <a:t>Maximum likelihood</a:t>
            </a:r>
          </a:p>
          <a:p>
            <a:r>
              <a:rPr lang="en-US" sz="2000" dirty="0">
                <a:solidFill>
                  <a:schemeClr val="bg1"/>
                </a:solidFill>
                <a:latin typeface="PT Serif Caption" panose="02060603050505020204" pitchFamily="18" charset="77"/>
              </a:rPr>
              <a:t>Many deep relationships were uncovered because of it</a:t>
            </a:r>
          </a:p>
          <a:p>
            <a:r>
              <a:rPr lang="en-US" sz="2000" dirty="0">
                <a:solidFill>
                  <a:schemeClr val="bg1"/>
                </a:solidFill>
                <a:latin typeface="PT Serif Caption" panose="02060603050505020204" pitchFamily="18" charset="77"/>
              </a:rPr>
              <a:t>Used both molecular and morphological (binary) data</a:t>
            </a:r>
          </a:p>
        </p:txBody>
      </p:sp>
      <p:pic>
        <p:nvPicPr>
          <p:cNvPr id="4" name="Picture 3">
            <a:extLst>
              <a:ext uri="{FF2B5EF4-FFF2-40B4-BE49-F238E27FC236}">
                <a16:creationId xmlns:a16="http://schemas.microsoft.com/office/drawing/2014/main" id="{DF93CB5F-E225-924F-8267-24CBA4D4C41C}"/>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262768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Image result for siphonophores">
            <a:hlinkClick r:id="rId2"/>
            <a:extLst>
              <a:ext uri="{FF2B5EF4-FFF2-40B4-BE49-F238E27FC236}">
                <a16:creationId xmlns:a16="http://schemas.microsoft.com/office/drawing/2014/main" id="{874E1E82-2170-7241-90EE-B32EC31CE430}"/>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b="7025"/>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63B926E-3CEA-7445-8B17-F644279E7F69}"/>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latin typeface="PT Serif Caption" panose="02060603050505020204" pitchFamily="18" charset="77"/>
              </a:rPr>
              <a:t>My questions</a:t>
            </a:r>
          </a:p>
        </p:txBody>
      </p:sp>
      <p:cxnSp>
        <p:nvCxnSpPr>
          <p:cNvPr id="73" name="Straight Connector 72">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28532A5-86B0-2140-AACB-88CA7C33A460}"/>
              </a:ext>
            </a:extLst>
          </p:cNvPr>
          <p:cNvSpPr>
            <a:spLocks noGrp="1"/>
          </p:cNvSpPr>
          <p:nvPr>
            <p:ph idx="1"/>
          </p:nvPr>
        </p:nvSpPr>
        <p:spPr>
          <a:xfrm>
            <a:off x="5155379" y="1065862"/>
            <a:ext cx="5744685" cy="4726276"/>
          </a:xfrm>
        </p:spPr>
        <p:txBody>
          <a:bodyPr anchor="ctr">
            <a:normAutofit lnSpcReduction="10000"/>
          </a:bodyPr>
          <a:lstStyle/>
          <a:p>
            <a:r>
              <a:rPr lang="en-US" sz="1700" dirty="0">
                <a:solidFill>
                  <a:srgbClr val="FFFFFF"/>
                </a:solidFill>
                <a:latin typeface="PT Serif Caption" panose="02060603050505020204" pitchFamily="18" charset="77"/>
              </a:rPr>
              <a:t>After taking phylogenetics, I am compelled to understand the decisions these top scientists have made </a:t>
            </a:r>
          </a:p>
          <a:p>
            <a:r>
              <a:rPr lang="en-US" sz="1700" dirty="0">
                <a:solidFill>
                  <a:srgbClr val="FFFFFF"/>
                </a:solidFill>
                <a:latin typeface="PT Serif Caption" panose="02060603050505020204" pitchFamily="18" charset="77"/>
              </a:rPr>
              <a:t>I want to explore how different phylogenetic methods vary and how that can change the outcome </a:t>
            </a:r>
          </a:p>
          <a:p>
            <a:r>
              <a:rPr lang="en-US" sz="1700" dirty="0">
                <a:solidFill>
                  <a:srgbClr val="FFFFFF"/>
                </a:solidFill>
                <a:latin typeface="PT Serif Caption" panose="02060603050505020204" pitchFamily="18" charset="77"/>
              </a:rPr>
              <a:t>In the paper they reported that they used maximum likelihood approaches</a:t>
            </a:r>
          </a:p>
          <a:p>
            <a:r>
              <a:rPr lang="en-US" sz="1700" dirty="0">
                <a:solidFill>
                  <a:srgbClr val="FFFFFF"/>
                </a:solidFill>
                <a:latin typeface="PT Serif Caption" panose="02060603050505020204" pitchFamily="18" charset="77"/>
              </a:rPr>
              <a:t>I wanted to investigate exactly how parsimony methods might affect these results, if they do so</a:t>
            </a:r>
          </a:p>
          <a:p>
            <a:r>
              <a:rPr lang="en-US" sz="1700" dirty="0">
                <a:solidFill>
                  <a:srgbClr val="FFFFFF"/>
                </a:solidFill>
                <a:latin typeface="PT Serif Caption" panose="02060603050505020204" pitchFamily="18" charset="77"/>
              </a:rPr>
              <a:t>I want to do this mainly because it is parsimony methods that are not used anymore, or rarely, and utilizing them will allow me to understand why and more specifically why that is the case in this organism</a:t>
            </a:r>
          </a:p>
          <a:p>
            <a:r>
              <a:rPr lang="en-US" sz="1700" dirty="0">
                <a:solidFill>
                  <a:srgbClr val="FFFFFF"/>
                </a:solidFill>
                <a:latin typeface="PT Serif Caption" panose="02060603050505020204" pitchFamily="18" charset="77"/>
              </a:rPr>
              <a:t> Also, parsimony is one approach that I am not familiar with and had no previous experience using, so I also wanted to explore the methods at a deeper level</a:t>
            </a:r>
          </a:p>
          <a:p>
            <a:endParaRPr lang="en-US" sz="1700" dirty="0">
              <a:solidFill>
                <a:srgbClr val="FFFFFF"/>
              </a:solidFill>
            </a:endParaRPr>
          </a:p>
        </p:txBody>
      </p:sp>
    </p:spTree>
    <p:extLst>
      <p:ext uri="{BB962C8B-B14F-4D97-AF65-F5344CB8AC3E}">
        <p14:creationId xmlns:p14="http://schemas.microsoft.com/office/powerpoint/2010/main" val="2710949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D8CF7-233C-CF46-A4C8-C8FF7529FDC3}"/>
              </a:ext>
            </a:extLst>
          </p:cNvPr>
          <p:cNvSpPr>
            <a:spLocks noGrp="1"/>
          </p:cNvSpPr>
          <p:nvPr>
            <p:ph type="title"/>
          </p:nvPr>
        </p:nvSpPr>
        <p:spPr>
          <a:xfrm>
            <a:off x="4965430" y="629268"/>
            <a:ext cx="6586491" cy="1286160"/>
          </a:xfrm>
        </p:spPr>
        <p:txBody>
          <a:bodyPr anchor="b">
            <a:normAutofit/>
          </a:bodyPr>
          <a:lstStyle/>
          <a:p>
            <a:r>
              <a:rPr lang="en-US" dirty="0">
                <a:latin typeface="PT Serif Caption" panose="02060603050505020204" pitchFamily="18" charset="77"/>
              </a:rPr>
              <a:t>Parsimony goals</a:t>
            </a:r>
          </a:p>
        </p:txBody>
      </p:sp>
      <p:pic>
        <p:nvPicPr>
          <p:cNvPr id="5122" name="Picture 2" descr="Image result for siphonophores">
            <a:hlinkClick r:id="rId2"/>
            <a:extLst>
              <a:ext uri="{FF2B5EF4-FFF2-40B4-BE49-F238E27FC236}">
                <a16:creationId xmlns:a16="http://schemas.microsoft.com/office/drawing/2014/main" id="{DF31ED9B-5B22-0441-9A30-8830D070D5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268" r="34711"/>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F7C26D"/>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018102-09E1-524E-A833-E0156265B30B}"/>
              </a:ext>
            </a:extLst>
          </p:cNvPr>
          <p:cNvSpPr>
            <a:spLocks noGrp="1"/>
          </p:cNvSpPr>
          <p:nvPr>
            <p:ph idx="1"/>
          </p:nvPr>
        </p:nvSpPr>
        <p:spPr>
          <a:xfrm>
            <a:off x="4965431" y="2438400"/>
            <a:ext cx="6921769" cy="4101533"/>
          </a:xfrm>
        </p:spPr>
        <p:txBody>
          <a:bodyPr>
            <a:noAutofit/>
          </a:bodyPr>
          <a:lstStyle/>
          <a:p>
            <a:r>
              <a:rPr lang="en-US" sz="1600" dirty="0">
                <a:latin typeface="PT Serif Caption" panose="02060603050505020204" pitchFamily="18" charset="77"/>
              </a:rPr>
              <a:t>The goal of parsimony is to seek a tree that minimizes the amount of evolutionary change to explain the data at hand</a:t>
            </a:r>
          </a:p>
          <a:p>
            <a:r>
              <a:rPr lang="en-US" sz="1600" dirty="0">
                <a:latin typeface="PT Serif Caption" panose="02060603050505020204" pitchFamily="18" charset="77"/>
              </a:rPr>
              <a:t>Parsimony, in short, maximizes congruence and minimizes homoplasy</a:t>
            </a:r>
          </a:p>
          <a:p>
            <a:r>
              <a:rPr lang="en-US" sz="1600" dirty="0">
                <a:latin typeface="PT Serif Caption" panose="02060603050505020204" pitchFamily="18" charset="77"/>
              </a:rPr>
              <a:t>Further, maximum parsimony depends on the idea of the fit of a character to a tree which is defined by the minimum number of steps required to explain the observed distribution of character states among taxa</a:t>
            </a:r>
          </a:p>
          <a:p>
            <a:r>
              <a:rPr lang="en-US" sz="1600" dirty="0">
                <a:latin typeface="PT Serif Caption" panose="02060603050505020204" pitchFamily="18" charset="77"/>
              </a:rPr>
              <a:t>Parsimony was the reigning method in phylogenetic analysis for a long time, and it still used sparsely today</a:t>
            </a:r>
          </a:p>
          <a:p>
            <a:r>
              <a:rPr lang="en-US" sz="1600" dirty="0">
                <a:latin typeface="PT Serif Caption" panose="02060603050505020204" pitchFamily="18" charset="77"/>
              </a:rPr>
              <a:t> The reason it is not still reigning is because there were some major problems that came from these trees, and as new methods came about, these problems became more and more apparent like convergent evolution, long-branch attraction, and constraints in tree space</a:t>
            </a:r>
          </a:p>
        </p:txBody>
      </p:sp>
    </p:spTree>
    <p:extLst>
      <p:ext uri="{BB962C8B-B14F-4D97-AF65-F5344CB8AC3E}">
        <p14:creationId xmlns:p14="http://schemas.microsoft.com/office/powerpoint/2010/main" val="1507554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95F6F-1FF9-0048-82F2-A59B803DDFE5}"/>
              </a:ext>
            </a:extLst>
          </p:cNvPr>
          <p:cNvSpPr>
            <a:spLocks noGrp="1"/>
          </p:cNvSpPr>
          <p:nvPr>
            <p:ph type="title"/>
          </p:nvPr>
        </p:nvSpPr>
        <p:spPr>
          <a:xfrm>
            <a:off x="762001" y="803325"/>
            <a:ext cx="5314536" cy="1325563"/>
          </a:xfrm>
        </p:spPr>
        <p:txBody>
          <a:bodyPr>
            <a:normAutofit/>
          </a:bodyPr>
          <a:lstStyle/>
          <a:p>
            <a:r>
              <a:rPr lang="en-US" dirty="0">
                <a:latin typeface="PT Serif Caption" panose="02060603050505020204" pitchFamily="18" charset="77"/>
              </a:rPr>
              <a:t>Maximum likelihood goals</a:t>
            </a:r>
          </a:p>
        </p:txBody>
      </p:sp>
      <p:sp>
        <p:nvSpPr>
          <p:cNvPr id="3" name="Content Placeholder 2">
            <a:extLst>
              <a:ext uri="{FF2B5EF4-FFF2-40B4-BE49-F238E27FC236}">
                <a16:creationId xmlns:a16="http://schemas.microsoft.com/office/drawing/2014/main" id="{5CF77067-5733-CE4B-B492-878F109824CA}"/>
              </a:ext>
            </a:extLst>
          </p:cNvPr>
          <p:cNvSpPr>
            <a:spLocks noGrp="1"/>
          </p:cNvSpPr>
          <p:nvPr>
            <p:ph idx="1"/>
          </p:nvPr>
        </p:nvSpPr>
        <p:spPr>
          <a:xfrm>
            <a:off x="762000" y="2279017"/>
            <a:ext cx="5609220" cy="4161539"/>
          </a:xfrm>
        </p:spPr>
        <p:txBody>
          <a:bodyPr anchor="t">
            <a:normAutofit lnSpcReduction="10000"/>
          </a:bodyPr>
          <a:lstStyle/>
          <a:p>
            <a:r>
              <a:rPr lang="en-US" sz="1800" dirty="0">
                <a:latin typeface="PT Serif Caption" panose="02060603050505020204" pitchFamily="18" charset="77"/>
              </a:rPr>
              <a:t>The goal of maximum likelihood is to find the tree that makes the data the most probable</a:t>
            </a:r>
          </a:p>
          <a:p>
            <a:r>
              <a:rPr lang="en-US" sz="1800" dirty="0">
                <a:latin typeface="PT Serif Caption" panose="02060603050505020204" pitchFamily="18" charset="77"/>
              </a:rPr>
              <a:t>Maximum likelihood also still has its problems, many the same, such as long-branch attraction</a:t>
            </a:r>
          </a:p>
          <a:p>
            <a:r>
              <a:rPr lang="en-US" sz="1800" dirty="0">
                <a:latin typeface="PT Serif Caption" panose="02060603050505020204" pitchFamily="18" charset="77"/>
              </a:rPr>
              <a:t>However, maximum likelihood allows us to consider different models of evolution and that allows us to answer many deep divergence estimates with more accuracy</a:t>
            </a:r>
          </a:p>
          <a:p>
            <a:r>
              <a:rPr lang="en-US" sz="1800" dirty="0">
                <a:latin typeface="PT Serif Caption" panose="02060603050505020204" pitchFamily="18" charset="77"/>
              </a:rPr>
              <a:t>The authors of this paper chose a maximum likelihood tree, and I not only wanted to compare maximum likelihood and parsimony but also test the consistency of parsimony and how that may differ when compared to the published tree </a:t>
            </a:r>
          </a:p>
          <a:p>
            <a:endParaRPr lang="en-US" sz="1500" dirty="0"/>
          </a:p>
        </p:txBody>
      </p:sp>
      <p:sp>
        <p:nvSpPr>
          <p:cNvPr id="71"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146" name="Picture 2" descr="Image result for siphonophores">
            <a:hlinkClick r:id="rId2"/>
            <a:extLst>
              <a:ext uri="{FF2B5EF4-FFF2-40B4-BE49-F238E27FC236}">
                <a16:creationId xmlns:a16="http://schemas.microsoft.com/office/drawing/2014/main" id="{2009A4F1-02EC-8447-9DBD-1C6CFA70BC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3736"/>
          <a:stretch/>
        </p:blipFill>
        <p:spPr bwMode="auto">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12683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2" name="Rectangle 7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Related image">
            <a:hlinkClick r:id="rId2"/>
            <a:extLst>
              <a:ext uri="{FF2B5EF4-FFF2-40B4-BE49-F238E27FC236}">
                <a16:creationId xmlns:a16="http://schemas.microsoft.com/office/drawing/2014/main" id="{B0EBEEC9-17CB-B546-85E4-08736DEB379B}"/>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t="25000"/>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C7D1320-3DD0-5A49-907C-AC391367BB8E}"/>
              </a:ext>
            </a:extLst>
          </p:cNvPr>
          <p:cNvSpPr>
            <a:spLocks noGrp="1"/>
          </p:cNvSpPr>
          <p:nvPr>
            <p:ph type="title"/>
          </p:nvPr>
        </p:nvSpPr>
        <p:spPr>
          <a:xfrm>
            <a:off x="838201" y="1065862"/>
            <a:ext cx="3313164" cy="4726276"/>
          </a:xfrm>
        </p:spPr>
        <p:txBody>
          <a:bodyPr>
            <a:normAutofit/>
          </a:bodyPr>
          <a:lstStyle/>
          <a:p>
            <a:pPr algn="r"/>
            <a:r>
              <a:rPr lang="en-US" sz="4000">
                <a:solidFill>
                  <a:srgbClr val="FFFFFF"/>
                </a:solidFill>
                <a:latin typeface="PT Serif Caption" panose="02060603050505020204" pitchFamily="18" charset="77"/>
              </a:rPr>
              <a:t>Programs and alignment</a:t>
            </a:r>
          </a:p>
        </p:txBody>
      </p:sp>
      <p:cxnSp>
        <p:nvCxnSpPr>
          <p:cNvPr id="7173" name="Straight Connector 72">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137FC46-7A6C-8848-9526-591C640E6A21}"/>
              </a:ext>
            </a:extLst>
          </p:cNvPr>
          <p:cNvSpPr>
            <a:spLocks noGrp="1"/>
          </p:cNvSpPr>
          <p:nvPr>
            <p:ph idx="1"/>
          </p:nvPr>
        </p:nvSpPr>
        <p:spPr>
          <a:xfrm>
            <a:off x="5155379" y="1065862"/>
            <a:ext cx="5744685" cy="4726276"/>
          </a:xfrm>
        </p:spPr>
        <p:txBody>
          <a:bodyPr anchor="ctr">
            <a:normAutofit/>
          </a:bodyPr>
          <a:lstStyle/>
          <a:p>
            <a:r>
              <a:rPr lang="en-US" sz="2000" dirty="0">
                <a:solidFill>
                  <a:srgbClr val="FFFFFF"/>
                </a:solidFill>
                <a:latin typeface="PT Serif Caption" panose="02060603050505020204" pitchFamily="18" charset="77"/>
              </a:rPr>
              <a:t>TNT</a:t>
            </a:r>
          </a:p>
          <a:p>
            <a:r>
              <a:rPr lang="en-US" sz="2000" dirty="0">
                <a:solidFill>
                  <a:srgbClr val="FFFFFF"/>
                </a:solidFill>
                <a:latin typeface="PT Serif Caption" panose="02060603050505020204" pitchFamily="18" charset="77"/>
              </a:rPr>
              <a:t>PAUP</a:t>
            </a:r>
          </a:p>
          <a:p>
            <a:r>
              <a:rPr lang="en-US" sz="2000" dirty="0">
                <a:solidFill>
                  <a:srgbClr val="FFFFFF"/>
                </a:solidFill>
                <a:latin typeface="PT Serif Caption" panose="02060603050505020204" pitchFamily="18" charset="77"/>
              </a:rPr>
              <a:t>Aligned data from supplementary information in </a:t>
            </a:r>
            <a:r>
              <a:rPr lang="en-US" sz="2000" dirty="0" err="1">
                <a:solidFill>
                  <a:srgbClr val="FFFFFF"/>
                </a:solidFill>
                <a:latin typeface="PT Serif Caption" panose="02060603050505020204" pitchFamily="18" charset="77"/>
              </a:rPr>
              <a:t>fasta</a:t>
            </a:r>
            <a:r>
              <a:rPr lang="en-US" sz="2000" dirty="0">
                <a:solidFill>
                  <a:srgbClr val="FFFFFF"/>
                </a:solidFill>
                <a:latin typeface="PT Serif Caption" panose="02060603050505020204" pitchFamily="18" charset="77"/>
              </a:rPr>
              <a:t> format with WAG+G model of evolution</a:t>
            </a:r>
          </a:p>
        </p:txBody>
      </p:sp>
    </p:spTree>
    <p:extLst>
      <p:ext uri="{BB962C8B-B14F-4D97-AF65-F5344CB8AC3E}">
        <p14:creationId xmlns:p14="http://schemas.microsoft.com/office/powerpoint/2010/main" val="94377176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4500A4-12DF-1048-A1C4-B6744F5937EC}"/>
              </a:ext>
            </a:extLst>
          </p:cNvPr>
          <p:cNvSpPr>
            <a:spLocks noGrp="1"/>
          </p:cNvSpPr>
          <p:nvPr>
            <p:ph type="title"/>
          </p:nvPr>
        </p:nvSpPr>
        <p:spPr>
          <a:xfrm>
            <a:off x="817202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TNT parsimony</a:t>
            </a:r>
          </a:p>
        </p:txBody>
      </p:sp>
      <p:pic>
        <p:nvPicPr>
          <p:cNvPr id="4" name="Picture 3">
            <a:extLst>
              <a:ext uri="{FF2B5EF4-FFF2-40B4-BE49-F238E27FC236}">
                <a16:creationId xmlns:a16="http://schemas.microsoft.com/office/drawing/2014/main" id="{9CE7E38E-3B1C-B547-B853-7EE89834B2BB}"/>
              </a:ext>
            </a:extLst>
          </p:cNvPr>
          <p:cNvPicPr/>
          <p:nvPr/>
        </p:nvPicPr>
        <p:blipFill>
          <a:blip r:embed="rId2">
            <a:extLst>
              <a:ext uri="{28A0092B-C50C-407E-A947-70E740481C1C}">
                <a14:useLocalDpi xmlns:a14="http://schemas.microsoft.com/office/drawing/2010/main" val="0"/>
              </a:ext>
            </a:extLst>
          </a:blip>
          <a:stretch>
            <a:fillRect/>
          </a:stretch>
        </p:blipFill>
        <p:spPr>
          <a:xfrm>
            <a:off x="0" y="151024"/>
            <a:ext cx="7525172" cy="6706976"/>
          </a:xfrm>
          <a:prstGeom prst="rect">
            <a:avLst/>
          </a:prstGeom>
        </p:spPr>
      </p:pic>
      <p:sp>
        <p:nvSpPr>
          <p:cNvPr id="3" name="Content Placeholder 2">
            <a:extLst>
              <a:ext uri="{FF2B5EF4-FFF2-40B4-BE49-F238E27FC236}">
                <a16:creationId xmlns:a16="http://schemas.microsoft.com/office/drawing/2014/main" id="{A44A20AF-631C-A642-B7E2-CCEEDD55B85C}"/>
              </a:ext>
            </a:extLst>
          </p:cNvPr>
          <p:cNvSpPr>
            <a:spLocks noGrp="1"/>
          </p:cNvSpPr>
          <p:nvPr>
            <p:ph idx="1"/>
          </p:nvPr>
        </p:nvSpPr>
        <p:spPr>
          <a:xfrm>
            <a:off x="8172028" y="2638044"/>
            <a:ext cx="3363974" cy="3415622"/>
          </a:xfrm>
        </p:spPr>
        <p:txBody>
          <a:bodyPr>
            <a:normAutofit fontScale="92500" lnSpcReduction="10000"/>
          </a:bodyPr>
          <a:lstStyle/>
          <a:p>
            <a:r>
              <a:rPr lang="en-US" dirty="0">
                <a:solidFill>
                  <a:schemeClr val="bg1"/>
                </a:solidFill>
                <a:latin typeface="PT Serif Caption" panose="02060603050505020204" pitchFamily="18" charset="77"/>
              </a:rPr>
              <a:t>The program used was TNT and I used the aligned protein file from Munro et al. 2017 paper. It was bootstrapped with 20 replicates. </a:t>
            </a:r>
            <a:endParaRPr lang="en-US" sz="2000" dirty="0">
              <a:solidFill>
                <a:schemeClr val="bg1"/>
              </a:solidFill>
              <a:latin typeface="PT Serif Caption" panose="02060603050505020204" pitchFamily="18" charset="77"/>
            </a:endParaRPr>
          </a:p>
        </p:txBody>
      </p:sp>
    </p:spTree>
    <p:extLst>
      <p:ext uri="{BB962C8B-B14F-4D97-AF65-F5344CB8AC3E}">
        <p14:creationId xmlns:p14="http://schemas.microsoft.com/office/powerpoint/2010/main" val="4238976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F1C63C-6EEE-6B42-B7D7-5E00FE28113D}"/>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PAUP parsimony</a:t>
            </a:r>
          </a:p>
        </p:txBody>
      </p:sp>
      <p:sp>
        <p:nvSpPr>
          <p:cNvPr id="3" name="Content Placeholder 2">
            <a:extLst>
              <a:ext uri="{FF2B5EF4-FFF2-40B4-BE49-F238E27FC236}">
                <a16:creationId xmlns:a16="http://schemas.microsoft.com/office/drawing/2014/main" id="{54577EFC-A93A-A142-82CA-C12B89612E0E}"/>
              </a:ext>
            </a:extLst>
          </p:cNvPr>
          <p:cNvSpPr>
            <a:spLocks noGrp="1"/>
          </p:cNvSpPr>
          <p:nvPr>
            <p:ph idx="1"/>
          </p:nvPr>
        </p:nvSpPr>
        <p:spPr>
          <a:xfrm>
            <a:off x="643468" y="2638044"/>
            <a:ext cx="3363974" cy="3415622"/>
          </a:xfrm>
        </p:spPr>
        <p:txBody>
          <a:bodyPr>
            <a:normAutofit fontScale="92500"/>
          </a:bodyPr>
          <a:lstStyle/>
          <a:p>
            <a:r>
              <a:rPr lang="en-US" dirty="0">
                <a:solidFill>
                  <a:schemeClr val="bg1"/>
                </a:solidFill>
                <a:latin typeface="PT Serif Caption" panose="02060603050505020204" pitchFamily="18" charset="77"/>
              </a:rPr>
              <a:t>PAUP maximum parsimony tree (hsearch.tre). This was made with the PAUP program and the aligned protein file from Munro et al. 2017. </a:t>
            </a:r>
            <a:endParaRPr lang="en-US" sz="2000" dirty="0">
              <a:solidFill>
                <a:schemeClr val="bg1"/>
              </a:solidFill>
              <a:latin typeface="PT Serif Caption" panose="02060603050505020204" pitchFamily="18" charset="77"/>
            </a:endParaRPr>
          </a:p>
        </p:txBody>
      </p:sp>
      <p:pic>
        <p:nvPicPr>
          <p:cNvPr id="4" name="Picture 3">
            <a:extLst>
              <a:ext uri="{FF2B5EF4-FFF2-40B4-BE49-F238E27FC236}">
                <a16:creationId xmlns:a16="http://schemas.microsoft.com/office/drawing/2014/main" id="{C3D42D17-4F3F-2842-8953-4FA185733F2B}"/>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364474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D4852-C361-7945-A8FA-6F6324BDD80F}"/>
              </a:ext>
            </a:extLst>
          </p:cNvPr>
          <p:cNvSpPr>
            <a:spLocks noGrp="1"/>
          </p:cNvSpPr>
          <p:nvPr>
            <p:ph type="title"/>
          </p:nvPr>
        </p:nvSpPr>
        <p:spPr>
          <a:xfrm>
            <a:off x="817202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PAUP parsimony #2</a:t>
            </a:r>
          </a:p>
        </p:txBody>
      </p:sp>
      <p:pic>
        <p:nvPicPr>
          <p:cNvPr id="4" name="Picture 3">
            <a:extLst>
              <a:ext uri="{FF2B5EF4-FFF2-40B4-BE49-F238E27FC236}">
                <a16:creationId xmlns:a16="http://schemas.microsoft.com/office/drawing/2014/main" id="{B654E3BD-0BBB-D241-A0D7-EAAD4C06F31B}"/>
              </a:ext>
            </a:extLst>
          </p:cNvPr>
          <p:cNvPicPr/>
          <p:nvPr/>
        </p:nvPicPr>
        <p:blipFill>
          <a:blip r:embed="rId2">
            <a:extLst>
              <a:ext uri="{28A0092B-C50C-407E-A947-70E740481C1C}">
                <a14:useLocalDpi xmlns:a14="http://schemas.microsoft.com/office/drawing/2010/main" val="0"/>
              </a:ext>
            </a:extLst>
          </a:blip>
          <a:stretch>
            <a:fillRect/>
          </a:stretch>
        </p:blipFill>
        <p:spPr>
          <a:xfrm>
            <a:off x="-9927" y="0"/>
            <a:ext cx="7535099" cy="6686550"/>
          </a:xfrm>
          <a:prstGeom prst="rect">
            <a:avLst/>
          </a:prstGeom>
        </p:spPr>
      </p:pic>
      <p:sp>
        <p:nvSpPr>
          <p:cNvPr id="3" name="Content Placeholder 2">
            <a:extLst>
              <a:ext uri="{FF2B5EF4-FFF2-40B4-BE49-F238E27FC236}">
                <a16:creationId xmlns:a16="http://schemas.microsoft.com/office/drawing/2014/main" id="{38919D5B-DD72-9B47-B652-D2E48A112485}"/>
              </a:ext>
            </a:extLst>
          </p:cNvPr>
          <p:cNvSpPr>
            <a:spLocks noGrp="1"/>
          </p:cNvSpPr>
          <p:nvPr>
            <p:ph idx="1"/>
          </p:nvPr>
        </p:nvSpPr>
        <p:spPr>
          <a:xfrm>
            <a:off x="8172028" y="2638044"/>
            <a:ext cx="3363974" cy="3415622"/>
          </a:xfrm>
        </p:spPr>
        <p:txBody>
          <a:bodyPr>
            <a:normAutofit fontScale="92500" lnSpcReduction="20000"/>
          </a:bodyPr>
          <a:lstStyle/>
          <a:p>
            <a:r>
              <a:rPr lang="en-US" dirty="0">
                <a:solidFill>
                  <a:schemeClr val="bg1"/>
                </a:solidFill>
                <a:latin typeface="PT Serif Caption" panose="02060603050505020204" pitchFamily="18" charset="77"/>
              </a:rPr>
              <a:t>PAUP additional parsimony analysis (parstree.tre). The program used was PAUP and I ran the analysis with the aligned protein file from Munro et al. 2017. </a:t>
            </a:r>
            <a:endParaRPr lang="en-US" sz="2000" dirty="0">
              <a:solidFill>
                <a:schemeClr val="bg1"/>
              </a:solidFill>
              <a:latin typeface="PT Serif Caption" panose="02060603050505020204" pitchFamily="18" charset="77"/>
            </a:endParaRPr>
          </a:p>
        </p:txBody>
      </p:sp>
    </p:spTree>
    <p:extLst>
      <p:ext uri="{BB962C8B-B14F-4D97-AF65-F5344CB8AC3E}">
        <p14:creationId xmlns:p14="http://schemas.microsoft.com/office/powerpoint/2010/main" val="223816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C424-9170-D24B-BBD7-12A427770693}"/>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Parsimony #1 vs parsimony #2</a:t>
            </a:r>
          </a:p>
        </p:txBody>
      </p:sp>
      <p:sp>
        <p:nvSpPr>
          <p:cNvPr id="3" name="Content Placeholder 2">
            <a:extLst>
              <a:ext uri="{FF2B5EF4-FFF2-40B4-BE49-F238E27FC236}">
                <a16:creationId xmlns:a16="http://schemas.microsoft.com/office/drawing/2014/main" id="{794D06CA-87F7-EC47-9F77-37D31C42927A}"/>
              </a:ext>
            </a:extLst>
          </p:cNvPr>
          <p:cNvSpPr>
            <a:spLocks noGrp="1"/>
          </p:cNvSpPr>
          <p:nvPr>
            <p:ph idx="1"/>
          </p:nvPr>
        </p:nvSpPr>
        <p:spPr>
          <a:xfrm>
            <a:off x="643468" y="2638044"/>
            <a:ext cx="3363974" cy="3415622"/>
          </a:xfrm>
        </p:spPr>
        <p:txBody>
          <a:bodyPr>
            <a:normAutofit/>
          </a:bodyPr>
          <a:lstStyle/>
          <a:p>
            <a:r>
              <a:rPr lang="en-US" dirty="0">
                <a:solidFill>
                  <a:schemeClr val="bg1"/>
                </a:solidFill>
                <a:latin typeface="PT Serif Caption" panose="02060603050505020204" pitchFamily="18" charset="77"/>
              </a:rPr>
              <a:t>PAUP parsimony vs parsimony 2. No changes were seen when comparing the two-parsimony analysis. </a:t>
            </a:r>
            <a:endParaRPr lang="en-US" sz="2000" dirty="0">
              <a:solidFill>
                <a:schemeClr val="bg1"/>
              </a:solidFill>
              <a:latin typeface="PT Serif Caption" panose="02060603050505020204" pitchFamily="18" charset="77"/>
            </a:endParaRPr>
          </a:p>
        </p:txBody>
      </p:sp>
      <p:pic>
        <p:nvPicPr>
          <p:cNvPr id="4" name="Picture 3" descr="A close up of text on a white background&#10;&#10;Description automatically generated">
            <a:extLst>
              <a:ext uri="{FF2B5EF4-FFF2-40B4-BE49-F238E27FC236}">
                <a16:creationId xmlns:a16="http://schemas.microsoft.com/office/drawing/2014/main" id="{AB6D9BEA-E8BA-2A46-ACCA-042D07FC4B77}"/>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91576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382B9A-9577-6A47-B6A2-3D0F4CB0D743}"/>
              </a:ext>
            </a:extLst>
          </p:cNvPr>
          <p:cNvSpPr>
            <a:spLocks noGrp="1"/>
          </p:cNvSpPr>
          <p:nvPr>
            <p:ph type="title"/>
          </p:nvPr>
        </p:nvSpPr>
        <p:spPr>
          <a:xfrm>
            <a:off x="817202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PAUP parsimony bootstrap</a:t>
            </a:r>
          </a:p>
        </p:txBody>
      </p:sp>
      <p:pic>
        <p:nvPicPr>
          <p:cNvPr id="4" name="Picture 3">
            <a:extLst>
              <a:ext uri="{FF2B5EF4-FFF2-40B4-BE49-F238E27FC236}">
                <a16:creationId xmlns:a16="http://schemas.microsoft.com/office/drawing/2014/main" id="{BA3C4B95-A2DC-274D-950A-916F8662A715}"/>
              </a:ext>
            </a:extLst>
          </p:cNvPr>
          <p:cNvPicPr/>
          <p:nvPr/>
        </p:nvPicPr>
        <p:blipFill>
          <a:blip r:embed="rId2">
            <a:extLst>
              <a:ext uri="{28A0092B-C50C-407E-A947-70E740481C1C}">
                <a14:useLocalDpi xmlns:a14="http://schemas.microsoft.com/office/drawing/2010/main" val="0"/>
              </a:ext>
            </a:extLst>
          </a:blip>
          <a:stretch>
            <a:fillRect/>
          </a:stretch>
        </p:blipFill>
        <p:spPr>
          <a:xfrm>
            <a:off x="9144" y="151024"/>
            <a:ext cx="7516028" cy="6706976"/>
          </a:xfrm>
          <a:prstGeom prst="rect">
            <a:avLst/>
          </a:prstGeom>
        </p:spPr>
      </p:pic>
      <p:sp>
        <p:nvSpPr>
          <p:cNvPr id="3" name="Content Placeholder 2">
            <a:extLst>
              <a:ext uri="{FF2B5EF4-FFF2-40B4-BE49-F238E27FC236}">
                <a16:creationId xmlns:a16="http://schemas.microsoft.com/office/drawing/2014/main" id="{3B01E06D-9EC1-8444-B563-AF3895ADDF8B}"/>
              </a:ext>
            </a:extLst>
          </p:cNvPr>
          <p:cNvSpPr>
            <a:spLocks noGrp="1"/>
          </p:cNvSpPr>
          <p:nvPr>
            <p:ph idx="1"/>
          </p:nvPr>
        </p:nvSpPr>
        <p:spPr>
          <a:xfrm>
            <a:off x="8172028" y="2638044"/>
            <a:ext cx="3363974" cy="3415622"/>
          </a:xfrm>
        </p:spPr>
        <p:txBody>
          <a:bodyPr>
            <a:normAutofit fontScale="92500" lnSpcReduction="10000"/>
          </a:bodyPr>
          <a:lstStyle/>
          <a:p>
            <a:r>
              <a:rPr lang="en-US" dirty="0">
                <a:solidFill>
                  <a:schemeClr val="bg1"/>
                </a:solidFill>
                <a:latin typeface="PT Serif Caption" panose="02060603050505020204" pitchFamily="18" charset="77"/>
              </a:rPr>
              <a:t>PAUP bootstrap parsimony tree (bootMajRule.tre). The program used was PAUP with 20 replicates and using the aligned protein file from Munro et al. 2017.</a:t>
            </a:r>
          </a:p>
          <a:p>
            <a:endParaRPr lang="en-US" sz="2000" dirty="0">
              <a:solidFill>
                <a:schemeClr val="bg1"/>
              </a:solidFill>
            </a:endParaRPr>
          </a:p>
        </p:txBody>
      </p:sp>
    </p:spTree>
    <p:extLst>
      <p:ext uri="{BB962C8B-B14F-4D97-AF65-F5344CB8AC3E}">
        <p14:creationId xmlns:p14="http://schemas.microsoft.com/office/powerpoint/2010/main" val="2975697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D4852-C361-7945-A8FA-6F6324BDD80F}"/>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PAUP bootstrap parsimony #2</a:t>
            </a:r>
          </a:p>
        </p:txBody>
      </p:sp>
      <p:sp>
        <p:nvSpPr>
          <p:cNvPr id="3" name="Content Placeholder 2">
            <a:extLst>
              <a:ext uri="{FF2B5EF4-FFF2-40B4-BE49-F238E27FC236}">
                <a16:creationId xmlns:a16="http://schemas.microsoft.com/office/drawing/2014/main" id="{38919D5B-DD72-9B47-B652-D2E48A112485}"/>
              </a:ext>
            </a:extLst>
          </p:cNvPr>
          <p:cNvSpPr>
            <a:spLocks noGrp="1"/>
          </p:cNvSpPr>
          <p:nvPr>
            <p:ph idx="1"/>
          </p:nvPr>
        </p:nvSpPr>
        <p:spPr>
          <a:xfrm>
            <a:off x="643468" y="2638044"/>
            <a:ext cx="3363974" cy="3415622"/>
          </a:xfrm>
        </p:spPr>
        <p:txBody>
          <a:bodyPr>
            <a:normAutofit fontScale="92500" lnSpcReduction="10000"/>
          </a:bodyPr>
          <a:lstStyle/>
          <a:p>
            <a:r>
              <a:rPr lang="en-US" dirty="0">
                <a:solidFill>
                  <a:schemeClr val="bg1"/>
                </a:solidFill>
                <a:latin typeface="PT Serif Caption" panose="02060603050505020204" pitchFamily="18" charset="77"/>
              </a:rPr>
              <a:t>PAUP additional bootstrap analysis (bootstrap.tre). The program used was PAUP and I used the aligned protein file from Munro et al. 2017. </a:t>
            </a:r>
            <a:endParaRPr lang="en-US" sz="2000" dirty="0">
              <a:solidFill>
                <a:schemeClr val="bg1"/>
              </a:solidFill>
              <a:latin typeface="PT Serif Caption" panose="02060603050505020204" pitchFamily="18" charset="77"/>
            </a:endParaRPr>
          </a:p>
        </p:txBody>
      </p:sp>
      <p:pic>
        <p:nvPicPr>
          <p:cNvPr id="4" name="Picture 3">
            <a:extLst>
              <a:ext uri="{FF2B5EF4-FFF2-40B4-BE49-F238E27FC236}">
                <a16:creationId xmlns:a16="http://schemas.microsoft.com/office/drawing/2014/main" id="{FB5CDF10-6184-3F4D-A529-50D1BD76114B}"/>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488538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C424-9170-D24B-BBD7-12A427770693}"/>
              </a:ext>
            </a:extLst>
          </p:cNvPr>
          <p:cNvSpPr>
            <a:spLocks noGrp="1"/>
          </p:cNvSpPr>
          <p:nvPr>
            <p:ph type="title"/>
          </p:nvPr>
        </p:nvSpPr>
        <p:spPr>
          <a:xfrm>
            <a:off x="8172027" y="643467"/>
            <a:ext cx="3363974" cy="1597315"/>
          </a:xfrm>
          <a:noFill/>
          <a:ln w="19050">
            <a:solidFill>
              <a:schemeClr val="bg1"/>
            </a:solidFill>
          </a:ln>
        </p:spPr>
        <p:txBody>
          <a:bodyPr wrap="square">
            <a:normAutofit fontScale="90000"/>
          </a:bodyPr>
          <a:lstStyle/>
          <a:p>
            <a:pPr algn="ctr"/>
            <a:r>
              <a:rPr lang="en-US" sz="2800" dirty="0">
                <a:solidFill>
                  <a:schemeClr val="bg1"/>
                </a:solidFill>
                <a:latin typeface="PT Serif Caption" panose="02060603050505020204" pitchFamily="18" charset="77"/>
              </a:rPr>
              <a:t>Parsimony bootstrap #1 vs parsimony bootstrap #2</a:t>
            </a:r>
          </a:p>
        </p:txBody>
      </p:sp>
      <p:pic>
        <p:nvPicPr>
          <p:cNvPr id="4" name="Picture 3" descr="A close up of text on a white background&#10;&#10;Description automatically generated">
            <a:extLst>
              <a:ext uri="{FF2B5EF4-FFF2-40B4-BE49-F238E27FC236}">
                <a16:creationId xmlns:a16="http://schemas.microsoft.com/office/drawing/2014/main" id="{E819BCCB-589B-CF40-8080-E18A1CB4582E}"/>
              </a:ext>
            </a:extLst>
          </p:cNvPr>
          <p:cNvPicPr/>
          <p:nvPr/>
        </p:nvPicPr>
        <p:blipFill>
          <a:blip r:embed="rId2">
            <a:extLst>
              <a:ext uri="{28A0092B-C50C-407E-A947-70E740481C1C}">
                <a14:useLocalDpi xmlns:a14="http://schemas.microsoft.com/office/drawing/2010/main" val="0"/>
              </a:ext>
            </a:extLst>
          </a:blip>
          <a:stretch>
            <a:fillRect/>
          </a:stretch>
        </p:blipFill>
        <p:spPr>
          <a:xfrm>
            <a:off x="9144" y="0"/>
            <a:ext cx="7516028" cy="6858000"/>
          </a:xfrm>
          <a:prstGeom prst="rect">
            <a:avLst/>
          </a:prstGeom>
        </p:spPr>
      </p:pic>
      <p:sp>
        <p:nvSpPr>
          <p:cNvPr id="3" name="Content Placeholder 2">
            <a:extLst>
              <a:ext uri="{FF2B5EF4-FFF2-40B4-BE49-F238E27FC236}">
                <a16:creationId xmlns:a16="http://schemas.microsoft.com/office/drawing/2014/main" id="{794D06CA-87F7-EC47-9F77-37D31C42927A}"/>
              </a:ext>
            </a:extLst>
          </p:cNvPr>
          <p:cNvSpPr>
            <a:spLocks noGrp="1"/>
          </p:cNvSpPr>
          <p:nvPr>
            <p:ph idx="1"/>
          </p:nvPr>
        </p:nvSpPr>
        <p:spPr>
          <a:xfrm>
            <a:off x="8172028" y="2638044"/>
            <a:ext cx="3363974" cy="3415622"/>
          </a:xfrm>
        </p:spPr>
        <p:txBody>
          <a:bodyPr>
            <a:normAutofit fontScale="77500" lnSpcReduction="20000"/>
          </a:bodyPr>
          <a:lstStyle/>
          <a:p>
            <a:r>
              <a:rPr lang="en-US" dirty="0">
                <a:solidFill>
                  <a:schemeClr val="bg1"/>
                </a:solidFill>
                <a:latin typeface="PT Serif Caption" panose="02060603050505020204" pitchFamily="18" charset="77"/>
              </a:rPr>
              <a:t>PAUP bootstrap vs bootstrap 2. One slight change was seen from the PAUP bootstrap analysis #1 and the PAUP bootstrap analysis #2. The arrows indicating the different places that the species was assigned that differed between them.</a:t>
            </a:r>
            <a:r>
              <a:rPr lang="en-US" sz="2000" dirty="0">
                <a:solidFill>
                  <a:schemeClr val="bg1"/>
                </a:solidFill>
                <a:effectLst/>
                <a:latin typeface="PT Serif Caption" panose="02060603050505020204" pitchFamily="18" charset="77"/>
              </a:rPr>
              <a:t> </a:t>
            </a:r>
            <a:endParaRPr lang="en-US" sz="2000" dirty="0">
              <a:solidFill>
                <a:schemeClr val="bg1"/>
              </a:solidFill>
              <a:latin typeface="PT Serif Caption" panose="02060603050505020204" pitchFamily="18" charset="77"/>
            </a:endParaRPr>
          </a:p>
        </p:txBody>
      </p:sp>
    </p:spTree>
    <p:extLst>
      <p:ext uri="{BB962C8B-B14F-4D97-AF65-F5344CB8AC3E}">
        <p14:creationId xmlns:p14="http://schemas.microsoft.com/office/powerpoint/2010/main" val="335230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D4852-C361-7945-A8FA-6F6324BDD80F}"/>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PAUP jackknife</a:t>
            </a:r>
          </a:p>
        </p:txBody>
      </p:sp>
      <p:sp>
        <p:nvSpPr>
          <p:cNvPr id="3" name="Content Placeholder 2">
            <a:extLst>
              <a:ext uri="{FF2B5EF4-FFF2-40B4-BE49-F238E27FC236}">
                <a16:creationId xmlns:a16="http://schemas.microsoft.com/office/drawing/2014/main" id="{38919D5B-DD72-9B47-B652-D2E48A112485}"/>
              </a:ext>
            </a:extLst>
          </p:cNvPr>
          <p:cNvSpPr>
            <a:spLocks noGrp="1"/>
          </p:cNvSpPr>
          <p:nvPr>
            <p:ph idx="1"/>
          </p:nvPr>
        </p:nvSpPr>
        <p:spPr>
          <a:xfrm>
            <a:off x="643468" y="2638044"/>
            <a:ext cx="3363974" cy="3415622"/>
          </a:xfrm>
        </p:spPr>
        <p:txBody>
          <a:bodyPr>
            <a:normAutofit fontScale="92500" lnSpcReduction="10000"/>
          </a:bodyPr>
          <a:lstStyle/>
          <a:p>
            <a:r>
              <a:rPr lang="en-US" dirty="0">
                <a:solidFill>
                  <a:schemeClr val="bg1"/>
                </a:solidFill>
                <a:latin typeface="PT Serif Caption" panose="02060603050505020204" pitchFamily="18" charset="77"/>
              </a:rPr>
              <a:t>PAUP jackknife tree (jackknife.tre). I used the program PAUP with the jackknife function with the aligned protein file from Munro et al. 2017. </a:t>
            </a:r>
            <a:endParaRPr lang="en-US" sz="2000" dirty="0">
              <a:solidFill>
                <a:schemeClr val="bg1"/>
              </a:solidFill>
              <a:latin typeface="PT Serif Caption" panose="02060603050505020204" pitchFamily="18" charset="77"/>
            </a:endParaRPr>
          </a:p>
        </p:txBody>
      </p:sp>
      <p:pic>
        <p:nvPicPr>
          <p:cNvPr id="4" name="Picture 3">
            <a:extLst>
              <a:ext uri="{FF2B5EF4-FFF2-40B4-BE49-F238E27FC236}">
                <a16:creationId xmlns:a16="http://schemas.microsoft.com/office/drawing/2014/main" id="{DBB9A057-737A-6C48-BAD0-04EFC377294D}"/>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2973762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3DBC424-9170-D24B-BBD7-12A427770693}"/>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PT Serif Caption" panose="02060603050505020204" pitchFamily="18" charset="77"/>
              </a:rPr>
              <a:t>Parsimony methods</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Content Placeholder 3" descr="A screenshot of a cell phone&#10;&#10;Description automatically generated">
            <a:extLst>
              <a:ext uri="{FF2B5EF4-FFF2-40B4-BE49-F238E27FC236}">
                <a16:creationId xmlns:a16="http://schemas.microsoft.com/office/drawing/2014/main" id="{79EC1296-8AF9-5541-B7F0-87F63CEB9227}"/>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78068" y="2393785"/>
            <a:ext cx="11438793" cy="4464215"/>
          </a:xfrm>
          <a:prstGeom prst="rect">
            <a:avLst/>
          </a:prstGeom>
        </p:spPr>
      </p:pic>
    </p:spTree>
    <p:extLst>
      <p:ext uri="{BB962C8B-B14F-4D97-AF65-F5344CB8AC3E}">
        <p14:creationId xmlns:p14="http://schemas.microsoft.com/office/powerpoint/2010/main" val="73966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E45442-FCEC-814A-A7D6-4D7CF8BBF5CD}"/>
              </a:ext>
            </a:extLst>
          </p:cNvPr>
          <p:cNvSpPr>
            <a:spLocks noGrp="1"/>
          </p:cNvSpPr>
          <p:nvPr>
            <p:ph type="title"/>
          </p:nvPr>
        </p:nvSpPr>
        <p:spPr>
          <a:xfrm>
            <a:off x="817202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Original tree vs parsimony tree</a:t>
            </a:r>
          </a:p>
        </p:txBody>
      </p:sp>
      <p:pic>
        <p:nvPicPr>
          <p:cNvPr id="4" name="Picture 3">
            <a:extLst>
              <a:ext uri="{FF2B5EF4-FFF2-40B4-BE49-F238E27FC236}">
                <a16:creationId xmlns:a16="http://schemas.microsoft.com/office/drawing/2014/main" id="{D854039B-E0A2-D340-B72B-C844B4F71B54}"/>
              </a:ext>
            </a:extLst>
          </p:cNvPr>
          <p:cNvPicPr/>
          <p:nvPr/>
        </p:nvPicPr>
        <p:blipFill>
          <a:blip r:embed="rId2">
            <a:extLst>
              <a:ext uri="{28A0092B-C50C-407E-A947-70E740481C1C}">
                <a14:useLocalDpi xmlns:a14="http://schemas.microsoft.com/office/drawing/2010/main" val="0"/>
              </a:ext>
            </a:extLst>
          </a:blip>
          <a:stretch>
            <a:fillRect/>
          </a:stretch>
        </p:blipFill>
        <p:spPr>
          <a:xfrm>
            <a:off x="9144" y="0"/>
            <a:ext cx="7516028" cy="6858000"/>
          </a:xfrm>
          <a:prstGeom prst="rect">
            <a:avLst/>
          </a:prstGeom>
        </p:spPr>
      </p:pic>
      <p:sp>
        <p:nvSpPr>
          <p:cNvPr id="3" name="Content Placeholder 2">
            <a:extLst>
              <a:ext uri="{FF2B5EF4-FFF2-40B4-BE49-F238E27FC236}">
                <a16:creationId xmlns:a16="http://schemas.microsoft.com/office/drawing/2014/main" id="{9252CCAF-B875-E743-BF1D-CB47882442B0}"/>
              </a:ext>
            </a:extLst>
          </p:cNvPr>
          <p:cNvSpPr>
            <a:spLocks noGrp="1"/>
          </p:cNvSpPr>
          <p:nvPr>
            <p:ph idx="1"/>
          </p:nvPr>
        </p:nvSpPr>
        <p:spPr>
          <a:xfrm>
            <a:off x="8172028" y="2638044"/>
            <a:ext cx="3363974" cy="3415622"/>
          </a:xfrm>
        </p:spPr>
        <p:txBody>
          <a:bodyPr>
            <a:normAutofit fontScale="77500" lnSpcReduction="20000"/>
          </a:bodyPr>
          <a:lstStyle/>
          <a:p>
            <a:r>
              <a:rPr lang="en-US" dirty="0">
                <a:solidFill>
                  <a:schemeClr val="bg1"/>
                </a:solidFill>
                <a:latin typeface="PT Serif Caption" panose="02060603050505020204" pitchFamily="18" charset="77"/>
              </a:rPr>
              <a:t>This is the original tree from Munro et al. 2017 compared to the parsimony tree from the PAUP analysis using the aligned protein sequence. The stars indicate the differences in the placement of specific species/clades. </a:t>
            </a:r>
            <a:endParaRPr lang="en-US" sz="2000" dirty="0">
              <a:solidFill>
                <a:schemeClr val="bg1"/>
              </a:solidFill>
              <a:latin typeface="PT Serif Caption" panose="02060603050505020204" pitchFamily="18" charset="77"/>
            </a:endParaRPr>
          </a:p>
        </p:txBody>
      </p:sp>
    </p:spTree>
    <p:extLst>
      <p:ext uri="{BB962C8B-B14F-4D97-AF65-F5344CB8AC3E}">
        <p14:creationId xmlns:p14="http://schemas.microsoft.com/office/powerpoint/2010/main" val="2174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28DDEA-72CB-C544-A007-3929C0A5667D}"/>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Original tree vs bootstrap parsimony</a:t>
            </a:r>
          </a:p>
        </p:txBody>
      </p:sp>
      <p:sp>
        <p:nvSpPr>
          <p:cNvPr id="3" name="Content Placeholder 2">
            <a:extLst>
              <a:ext uri="{FF2B5EF4-FFF2-40B4-BE49-F238E27FC236}">
                <a16:creationId xmlns:a16="http://schemas.microsoft.com/office/drawing/2014/main" id="{03B4D329-8AF7-884D-83D2-0D5C4A4ACBA6}"/>
              </a:ext>
            </a:extLst>
          </p:cNvPr>
          <p:cNvSpPr>
            <a:spLocks noGrp="1"/>
          </p:cNvSpPr>
          <p:nvPr>
            <p:ph idx="1"/>
          </p:nvPr>
        </p:nvSpPr>
        <p:spPr>
          <a:xfrm>
            <a:off x="643468" y="2638044"/>
            <a:ext cx="3363974" cy="3415622"/>
          </a:xfrm>
        </p:spPr>
        <p:txBody>
          <a:bodyPr>
            <a:normAutofit fontScale="77500" lnSpcReduction="20000"/>
          </a:bodyPr>
          <a:lstStyle/>
          <a:p>
            <a:r>
              <a:rPr lang="en-US" dirty="0">
                <a:solidFill>
                  <a:schemeClr val="bg1"/>
                </a:solidFill>
                <a:latin typeface="PT Serif Caption" panose="02060603050505020204" pitchFamily="18" charset="77"/>
              </a:rPr>
              <a:t>This is the original tree from Munro et al. 2017 compared to the bootstrap parsimony tree from the PAUP analysis using the aligned protein sequence. The stars indicated the species that are changing across the two trees.</a:t>
            </a:r>
            <a:r>
              <a:rPr lang="en-US" sz="2000" dirty="0">
                <a:solidFill>
                  <a:schemeClr val="bg1"/>
                </a:solidFill>
                <a:effectLst/>
                <a:latin typeface="PT Serif Caption" panose="02060603050505020204" pitchFamily="18" charset="77"/>
              </a:rPr>
              <a:t> </a:t>
            </a:r>
            <a:endParaRPr lang="en-US" sz="2000" dirty="0">
              <a:solidFill>
                <a:schemeClr val="bg1"/>
              </a:solidFill>
              <a:latin typeface="PT Serif Caption" panose="02060603050505020204" pitchFamily="18" charset="77"/>
            </a:endParaRPr>
          </a:p>
        </p:txBody>
      </p:sp>
      <p:pic>
        <p:nvPicPr>
          <p:cNvPr id="4" name="Picture 3">
            <a:extLst>
              <a:ext uri="{FF2B5EF4-FFF2-40B4-BE49-F238E27FC236}">
                <a16:creationId xmlns:a16="http://schemas.microsoft.com/office/drawing/2014/main" id="{8A0B73BB-A137-4E46-A55D-507B610573CE}"/>
              </a:ext>
            </a:extLst>
          </p:cNvPr>
          <p:cNvPicPr/>
          <p:nvPr/>
        </p:nvPicPr>
        <p:blipFill>
          <a:blip r:embed="rId2">
            <a:extLst>
              <a:ext uri="{28A0092B-C50C-407E-A947-70E740481C1C}">
                <a14:useLocalDpi xmlns:a14="http://schemas.microsoft.com/office/drawing/2010/main" val="0"/>
              </a:ext>
            </a:extLst>
          </a:blip>
          <a:stretch>
            <a:fillRect/>
          </a:stretch>
        </p:blipFill>
        <p:spPr>
          <a:xfrm>
            <a:off x="4650909" y="0"/>
            <a:ext cx="7541092" cy="6858000"/>
          </a:xfrm>
          <a:prstGeom prst="rect">
            <a:avLst/>
          </a:prstGeom>
        </p:spPr>
      </p:pic>
    </p:spTree>
    <p:extLst>
      <p:ext uri="{BB962C8B-B14F-4D97-AF65-F5344CB8AC3E}">
        <p14:creationId xmlns:p14="http://schemas.microsoft.com/office/powerpoint/2010/main" val="1537058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856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C2B66-B87F-E742-9065-FC8DEC712612}"/>
              </a:ext>
            </a:extLst>
          </p:cNvPr>
          <p:cNvSpPr>
            <a:spLocks noGrp="1"/>
          </p:cNvSpPr>
          <p:nvPr>
            <p:ph type="title"/>
          </p:nvPr>
        </p:nvSpPr>
        <p:spPr>
          <a:xfrm>
            <a:off x="8172027" y="643467"/>
            <a:ext cx="3363974" cy="1597315"/>
          </a:xfrm>
          <a:noFill/>
          <a:ln w="19050">
            <a:solidFill>
              <a:schemeClr val="bg1"/>
            </a:solidFill>
          </a:ln>
        </p:spPr>
        <p:txBody>
          <a:bodyPr wrap="square">
            <a:normAutofit/>
          </a:bodyPr>
          <a:lstStyle/>
          <a:p>
            <a:pPr algn="ctr"/>
            <a:r>
              <a:rPr lang="en-US" sz="2800" dirty="0">
                <a:solidFill>
                  <a:schemeClr val="bg1"/>
                </a:solidFill>
                <a:latin typeface="PT Serif Caption" panose="02060603050505020204" pitchFamily="18" charset="77"/>
              </a:rPr>
              <a:t>Original tree vs jackknife parsimony</a:t>
            </a:r>
          </a:p>
        </p:txBody>
      </p:sp>
      <p:pic>
        <p:nvPicPr>
          <p:cNvPr id="4" name="Picture 3" descr="A screenshot of a cell phone&#10;&#10;Description automatically generated">
            <a:extLst>
              <a:ext uri="{FF2B5EF4-FFF2-40B4-BE49-F238E27FC236}">
                <a16:creationId xmlns:a16="http://schemas.microsoft.com/office/drawing/2014/main" id="{088B8879-2DEC-F642-86E7-D7B358A1323D}"/>
              </a:ext>
            </a:extLst>
          </p:cNvPr>
          <p:cNvPicPr/>
          <p:nvPr/>
        </p:nvPicPr>
        <p:blipFill>
          <a:blip r:embed="rId2">
            <a:extLst>
              <a:ext uri="{28A0092B-C50C-407E-A947-70E740481C1C}">
                <a14:useLocalDpi xmlns:a14="http://schemas.microsoft.com/office/drawing/2010/main" val="0"/>
              </a:ext>
            </a:extLst>
          </a:blip>
          <a:stretch>
            <a:fillRect/>
          </a:stretch>
        </p:blipFill>
        <p:spPr>
          <a:xfrm>
            <a:off x="9144" y="0"/>
            <a:ext cx="7516027" cy="6858000"/>
          </a:xfrm>
          <a:prstGeom prst="rect">
            <a:avLst/>
          </a:prstGeom>
        </p:spPr>
      </p:pic>
      <p:sp>
        <p:nvSpPr>
          <p:cNvPr id="3" name="Content Placeholder 2">
            <a:extLst>
              <a:ext uri="{FF2B5EF4-FFF2-40B4-BE49-F238E27FC236}">
                <a16:creationId xmlns:a16="http://schemas.microsoft.com/office/drawing/2014/main" id="{FA3F5F97-A2EF-264B-9CC0-9B91C0128AFF}"/>
              </a:ext>
            </a:extLst>
          </p:cNvPr>
          <p:cNvSpPr>
            <a:spLocks noGrp="1"/>
          </p:cNvSpPr>
          <p:nvPr>
            <p:ph idx="1"/>
          </p:nvPr>
        </p:nvSpPr>
        <p:spPr>
          <a:xfrm>
            <a:off x="8172028" y="2638044"/>
            <a:ext cx="3363974" cy="3415622"/>
          </a:xfrm>
        </p:spPr>
        <p:txBody>
          <a:bodyPr>
            <a:normAutofit fontScale="77500" lnSpcReduction="20000"/>
          </a:bodyPr>
          <a:lstStyle/>
          <a:p>
            <a:r>
              <a:rPr lang="en-US" dirty="0">
                <a:solidFill>
                  <a:schemeClr val="bg1"/>
                </a:solidFill>
                <a:latin typeface="PT Serif Caption" panose="02060603050505020204" pitchFamily="18" charset="77"/>
              </a:rPr>
              <a:t>This is the original tree from Munro et al. 2017 compared to the jackknife parsimony tree from the PAUP analysis using the aligned protein sequence. The stars indicate the differences in the species that changed from the two phylogenies.</a:t>
            </a:r>
            <a:r>
              <a:rPr lang="en-US" sz="2000" dirty="0">
                <a:solidFill>
                  <a:schemeClr val="bg1"/>
                </a:solidFill>
                <a:effectLst/>
                <a:latin typeface="PT Serif Caption" panose="02060603050505020204" pitchFamily="18" charset="77"/>
              </a:rPr>
              <a:t> </a:t>
            </a:r>
            <a:endParaRPr lang="en-US" sz="2000" dirty="0">
              <a:solidFill>
                <a:schemeClr val="bg1"/>
              </a:solidFill>
              <a:latin typeface="PT Serif Caption" panose="02060603050505020204" pitchFamily="18" charset="77"/>
            </a:endParaRPr>
          </a:p>
        </p:txBody>
      </p:sp>
    </p:spTree>
    <p:extLst>
      <p:ext uri="{BB962C8B-B14F-4D97-AF65-F5344CB8AC3E}">
        <p14:creationId xmlns:p14="http://schemas.microsoft.com/office/powerpoint/2010/main" val="288010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Image result for siphonophores">
            <a:hlinkClick r:id="rId2"/>
            <a:extLst>
              <a:ext uri="{FF2B5EF4-FFF2-40B4-BE49-F238E27FC236}">
                <a16:creationId xmlns:a16="http://schemas.microsoft.com/office/drawing/2014/main" id="{163DF1AE-F81D-6F4A-BBCC-9C846A465661}"/>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t="5146" b="10268"/>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1E90C24-A0D3-D94C-AB50-FC1843A958C4}"/>
              </a:ext>
            </a:extLst>
          </p:cNvPr>
          <p:cNvSpPr>
            <a:spLocks noGrp="1"/>
          </p:cNvSpPr>
          <p:nvPr>
            <p:ph type="title"/>
          </p:nvPr>
        </p:nvSpPr>
        <p:spPr>
          <a:xfrm>
            <a:off x="838201" y="1065862"/>
            <a:ext cx="3313164" cy="4726276"/>
          </a:xfrm>
        </p:spPr>
        <p:txBody>
          <a:bodyPr>
            <a:normAutofit/>
          </a:bodyPr>
          <a:lstStyle/>
          <a:p>
            <a:pPr algn="r"/>
            <a:r>
              <a:rPr lang="en-US" sz="4000">
                <a:solidFill>
                  <a:srgbClr val="FFFFFF"/>
                </a:solidFill>
                <a:latin typeface="PT Serif Caption" panose="02060603050505020204" pitchFamily="18" charset="77"/>
              </a:rPr>
              <a:t>Main findings</a:t>
            </a:r>
          </a:p>
        </p:txBody>
      </p:sp>
      <p:cxnSp>
        <p:nvCxnSpPr>
          <p:cNvPr id="73" name="Straight Connector 72">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AB01391-3C8D-1447-8801-A3E2B7B931AC}"/>
              </a:ext>
            </a:extLst>
          </p:cNvPr>
          <p:cNvSpPr>
            <a:spLocks noGrp="1"/>
          </p:cNvSpPr>
          <p:nvPr>
            <p:ph idx="1"/>
          </p:nvPr>
        </p:nvSpPr>
        <p:spPr>
          <a:xfrm>
            <a:off x="5155379" y="1065862"/>
            <a:ext cx="5744685" cy="4726276"/>
          </a:xfrm>
        </p:spPr>
        <p:txBody>
          <a:bodyPr anchor="ctr">
            <a:normAutofit lnSpcReduction="10000"/>
          </a:bodyPr>
          <a:lstStyle/>
          <a:p>
            <a:r>
              <a:rPr lang="en-US" sz="2000">
                <a:solidFill>
                  <a:srgbClr val="FFFFFF"/>
                </a:solidFill>
                <a:latin typeface="PT Serif Caption" panose="02060603050505020204" pitchFamily="18" charset="77"/>
              </a:rPr>
              <a:t>By directly comparing the original phylogeny from Munro et al. 2017 to the parsimony, bootstrap parsimony, and jackknife parsimony, the same inconsistencies appeared every time while comparing them, it was never the same as the original tree </a:t>
            </a:r>
          </a:p>
          <a:p>
            <a:r>
              <a:rPr lang="en-US" sz="2000">
                <a:solidFill>
                  <a:srgbClr val="FFFFFF"/>
                </a:solidFill>
                <a:latin typeface="PT Serif Caption" panose="02060603050505020204" pitchFamily="18" charset="77"/>
              </a:rPr>
              <a:t>By comparing the original tree from the paper to the various parsimony analyses, it was very obvious to see there were major clade differences among them. </a:t>
            </a:r>
          </a:p>
          <a:p>
            <a:r>
              <a:rPr lang="en-US" sz="2000">
                <a:solidFill>
                  <a:srgbClr val="FFFFFF"/>
                </a:solidFill>
                <a:latin typeface="PT Serif Caption" panose="02060603050505020204" pitchFamily="18" charset="77"/>
              </a:rPr>
              <a:t>I came to the same conclusion that this species may not have enough support using parsimony alone. It is for this reason; the logical next step would be a maximum likelihood and/or Bayesian analysis</a:t>
            </a:r>
            <a:r>
              <a:rPr lang="en-US" sz="2000">
                <a:solidFill>
                  <a:srgbClr val="FFFFFF"/>
                </a:solidFill>
                <a:effectLst/>
                <a:latin typeface="PT Serif Caption" panose="02060603050505020204" pitchFamily="18" charset="77"/>
              </a:rPr>
              <a:t> </a:t>
            </a:r>
            <a:endParaRPr lang="en-US" sz="2000">
              <a:solidFill>
                <a:srgbClr val="FFFFFF"/>
              </a:solidFill>
              <a:latin typeface="PT Serif Caption" panose="02060603050505020204" pitchFamily="18" charset="77"/>
            </a:endParaRPr>
          </a:p>
        </p:txBody>
      </p:sp>
    </p:spTree>
    <p:extLst>
      <p:ext uri="{BB962C8B-B14F-4D97-AF65-F5344CB8AC3E}">
        <p14:creationId xmlns:p14="http://schemas.microsoft.com/office/powerpoint/2010/main" val="1856194053"/>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Image result for siphonophores">
            <a:hlinkClick r:id="rId2"/>
            <a:extLst>
              <a:ext uri="{FF2B5EF4-FFF2-40B4-BE49-F238E27FC236}">
                <a16:creationId xmlns:a16="http://schemas.microsoft.com/office/drawing/2014/main" id="{C2846400-BA69-D54B-9EB0-496B91332959}"/>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l="6460" r="2465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4FCB0F9-ACF5-134E-9576-3796216104E2}"/>
              </a:ext>
            </a:extLst>
          </p:cNvPr>
          <p:cNvSpPr>
            <a:spLocks noGrp="1"/>
          </p:cNvSpPr>
          <p:nvPr>
            <p:ph type="title"/>
          </p:nvPr>
        </p:nvSpPr>
        <p:spPr>
          <a:xfrm>
            <a:off x="838200" y="365125"/>
            <a:ext cx="10515600" cy="1325563"/>
          </a:xfrm>
        </p:spPr>
        <p:txBody>
          <a:bodyPr>
            <a:normAutofit/>
          </a:bodyPr>
          <a:lstStyle/>
          <a:p>
            <a:r>
              <a:rPr lang="en-US">
                <a:solidFill>
                  <a:srgbClr val="FFFFFF"/>
                </a:solidFill>
                <a:latin typeface="PT Serif Caption" panose="02060603050505020204" pitchFamily="18" charset="77"/>
              </a:rPr>
              <a:t>Conclusions</a:t>
            </a:r>
          </a:p>
        </p:txBody>
      </p:sp>
      <p:sp>
        <p:nvSpPr>
          <p:cNvPr id="3" name="Content Placeholder 2">
            <a:extLst>
              <a:ext uri="{FF2B5EF4-FFF2-40B4-BE49-F238E27FC236}">
                <a16:creationId xmlns:a16="http://schemas.microsoft.com/office/drawing/2014/main" id="{4E31C296-8871-7B4E-95FA-6DDB73D97344}"/>
              </a:ext>
            </a:extLst>
          </p:cNvPr>
          <p:cNvSpPr>
            <a:spLocks noGrp="1"/>
          </p:cNvSpPr>
          <p:nvPr>
            <p:ph idx="1"/>
          </p:nvPr>
        </p:nvSpPr>
        <p:spPr>
          <a:xfrm>
            <a:off x="838200" y="1825625"/>
            <a:ext cx="10515600" cy="4351338"/>
          </a:xfrm>
        </p:spPr>
        <p:txBody>
          <a:bodyPr>
            <a:normAutofit lnSpcReduction="10000"/>
          </a:bodyPr>
          <a:lstStyle/>
          <a:p>
            <a:r>
              <a:rPr lang="en-US">
                <a:solidFill>
                  <a:srgbClr val="FFFFFF"/>
                </a:solidFill>
                <a:latin typeface="PT Serif Caption" panose="02060603050505020204" pitchFamily="18" charset="77"/>
              </a:rPr>
              <a:t>From the results of this paper, I can now compare and contrast different phylogenetic methods</a:t>
            </a:r>
          </a:p>
          <a:p>
            <a:r>
              <a:rPr lang="en-US">
                <a:solidFill>
                  <a:srgbClr val="FFFFFF"/>
                </a:solidFill>
                <a:latin typeface="PT Serif Caption" panose="02060603050505020204" pitchFamily="18" charset="77"/>
              </a:rPr>
              <a:t>But more importantly, I understand the justifications that scientists make when using them</a:t>
            </a:r>
          </a:p>
          <a:p>
            <a:r>
              <a:rPr lang="en-US">
                <a:solidFill>
                  <a:srgbClr val="FFFFFF"/>
                </a:solidFill>
                <a:latin typeface="PT Serif Caption" panose="02060603050505020204" pitchFamily="18" charset="77"/>
              </a:rPr>
              <a:t>The methods are there, they will continue to be there, and they will continue to grow and develop but they all mean nothing if they are not informed with the data we have, the questions we are asking, and the insights the methods are going to give us</a:t>
            </a:r>
          </a:p>
          <a:p>
            <a:r>
              <a:rPr lang="en-US">
                <a:solidFill>
                  <a:srgbClr val="FFFFFF"/>
                </a:solidFill>
                <a:latin typeface="PT Serif Caption" panose="02060603050505020204" pitchFamily="18" charset="77"/>
              </a:rPr>
              <a:t>Along with this, we need to know the assumptions and limitations of each method. </a:t>
            </a:r>
          </a:p>
          <a:p>
            <a:endParaRPr lang="en-US">
              <a:solidFill>
                <a:srgbClr val="FFFFFF"/>
              </a:solidFill>
            </a:endParaRPr>
          </a:p>
        </p:txBody>
      </p:sp>
    </p:spTree>
    <p:extLst>
      <p:ext uri="{BB962C8B-B14F-4D97-AF65-F5344CB8AC3E}">
        <p14:creationId xmlns:p14="http://schemas.microsoft.com/office/powerpoint/2010/main" val="3707000077"/>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Image result for siphonophores">
            <a:hlinkClick r:id="rId2"/>
            <a:extLst>
              <a:ext uri="{FF2B5EF4-FFF2-40B4-BE49-F238E27FC236}">
                <a16:creationId xmlns:a16="http://schemas.microsoft.com/office/drawing/2014/main" id="{0682E2A1-B315-CA46-ADB0-E1E4BF39C7AA}"/>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6725" r="31038" b="-1"/>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6EB60FFC-7526-164E-97C4-B643AE959512}"/>
              </a:ext>
            </a:extLst>
          </p:cNvPr>
          <p:cNvSpPr>
            <a:spLocks noGrp="1"/>
          </p:cNvSpPr>
          <p:nvPr>
            <p:ph type="title"/>
          </p:nvPr>
        </p:nvSpPr>
        <p:spPr>
          <a:xfrm>
            <a:off x="804998" y="798445"/>
            <a:ext cx="4803636" cy="1311664"/>
          </a:xfrm>
        </p:spPr>
        <p:txBody>
          <a:bodyPr>
            <a:normAutofit/>
          </a:bodyPr>
          <a:lstStyle/>
          <a:p>
            <a:r>
              <a:rPr lang="en-US">
                <a:solidFill>
                  <a:srgbClr val="000000"/>
                </a:solidFill>
                <a:latin typeface="PT Serif Caption" panose="02060603050505020204" pitchFamily="18" charset="77"/>
              </a:rPr>
              <a:t>Future Directions</a:t>
            </a:r>
          </a:p>
        </p:txBody>
      </p:sp>
      <p:sp>
        <p:nvSpPr>
          <p:cNvPr id="3" name="Content Placeholder 2">
            <a:extLst>
              <a:ext uri="{FF2B5EF4-FFF2-40B4-BE49-F238E27FC236}">
                <a16:creationId xmlns:a16="http://schemas.microsoft.com/office/drawing/2014/main" id="{EEF92E79-EA88-C84E-8B39-204D9BD51612}"/>
              </a:ext>
            </a:extLst>
          </p:cNvPr>
          <p:cNvSpPr>
            <a:spLocks noGrp="1"/>
          </p:cNvSpPr>
          <p:nvPr>
            <p:ph idx="1"/>
          </p:nvPr>
        </p:nvSpPr>
        <p:spPr>
          <a:xfrm>
            <a:off x="198783" y="2272142"/>
            <a:ext cx="5313017" cy="4247927"/>
          </a:xfrm>
        </p:spPr>
        <p:txBody>
          <a:bodyPr anchor="ctr">
            <a:normAutofit fontScale="92500" lnSpcReduction="20000"/>
          </a:bodyPr>
          <a:lstStyle/>
          <a:p>
            <a:r>
              <a:rPr lang="en-US" sz="1700" dirty="0">
                <a:solidFill>
                  <a:srgbClr val="000000"/>
                </a:solidFill>
                <a:latin typeface="PT Serif Caption" panose="02060603050505020204" pitchFamily="18" charset="77"/>
              </a:rPr>
              <a:t>Even though I was not able to recover the specific tree that was published, the major clades were similar, except for one moving taxon</a:t>
            </a:r>
          </a:p>
          <a:p>
            <a:r>
              <a:rPr lang="en-US" sz="1700" dirty="0">
                <a:solidFill>
                  <a:srgbClr val="000000"/>
                </a:solidFill>
                <a:latin typeface="PT Serif Caption" panose="02060603050505020204" pitchFamily="18" charset="77"/>
              </a:rPr>
              <a:t>I think that the additional step in the paper of adding morphological characters strengthened the existing dataset further</a:t>
            </a:r>
          </a:p>
          <a:p>
            <a:r>
              <a:rPr lang="en-US" sz="1700" dirty="0">
                <a:solidFill>
                  <a:srgbClr val="000000"/>
                </a:solidFill>
                <a:latin typeface="PT Serif Caption" panose="02060603050505020204" pitchFamily="18" charset="77"/>
              </a:rPr>
              <a:t>The more we know about these creatures, the more informative the results are</a:t>
            </a:r>
          </a:p>
          <a:p>
            <a:r>
              <a:rPr lang="en-US" sz="1700" dirty="0">
                <a:solidFill>
                  <a:srgbClr val="000000"/>
                </a:solidFill>
                <a:latin typeface="PT Serif Caption" panose="02060603050505020204" pitchFamily="18" charset="77"/>
              </a:rPr>
              <a:t>From this experience, I was able to see how limited some of these raw datasets are. I now understand why scientists are continuing to expand them </a:t>
            </a:r>
          </a:p>
          <a:p>
            <a:r>
              <a:rPr lang="en-US" sz="1700" dirty="0">
                <a:solidFill>
                  <a:srgbClr val="000000"/>
                </a:solidFill>
                <a:latin typeface="PT Serif Caption" panose="02060603050505020204" pitchFamily="18" charset="77"/>
              </a:rPr>
              <a:t>In conclusion, from exploring the phylogenetic methods out there, I have a better understanding of the decisions that the scientist makes when making phylogenic trees and especially the differences between parsimony and maximum likelihood.</a:t>
            </a:r>
          </a:p>
          <a:p>
            <a:endParaRPr lang="en-US" sz="1400" dirty="0">
              <a:solidFill>
                <a:srgbClr val="000000"/>
              </a:solidFill>
            </a:endParaRPr>
          </a:p>
        </p:txBody>
      </p:sp>
    </p:spTree>
    <p:extLst>
      <p:ext uri="{BB962C8B-B14F-4D97-AF65-F5344CB8AC3E}">
        <p14:creationId xmlns:p14="http://schemas.microsoft.com/office/powerpoint/2010/main" val="3004777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8" name="Picture 4" descr="Related image">
            <a:hlinkClick r:id="rId2"/>
            <a:extLst>
              <a:ext uri="{FF2B5EF4-FFF2-40B4-BE49-F238E27FC236}">
                <a16:creationId xmlns:a16="http://schemas.microsoft.com/office/drawing/2014/main" id="{8E90D10B-C10E-BD47-B646-15838264C4C0}"/>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b="15414"/>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DB92594-A1CA-7447-9419-D719A914DD1B}"/>
              </a:ext>
            </a:extLst>
          </p:cNvPr>
          <p:cNvSpPr>
            <a:spLocks noGrp="1"/>
          </p:cNvSpPr>
          <p:nvPr>
            <p:ph type="title"/>
          </p:nvPr>
        </p:nvSpPr>
        <p:spPr>
          <a:xfrm>
            <a:off x="838201" y="1065862"/>
            <a:ext cx="3313164" cy="4726276"/>
          </a:xfrm>
        </p:spPr>
        <p:txBody>
          <a:bodyPr>
            <a:normAutofit/>
          </a:bodyPr>
          <a:lstStyle/>
          <a:p>
            <a:pPr algn="r"/>
            <a:r>
              <a:rPr lang="en-US" sz="4000">
                <a:solidFill>
                  <a:srgbClr val="FFFFFF"/>
                </a:solidFill>
                <a:latin typeface="PT Serif Caption" panose="02060603050505020204" pitchFamily="18" charset="77"/>
              </a:rPr>
              <a:t>Citations</a:t>
            </a:r>
          </a:p>
        </p:txBody>
      </p:sp>
      <p:cxnSp>
        <p:nvCxnSpPr>
          <p:cNvPr id="75" name="Straight Connector 74">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69A385-96D0-1444-8892-1E8205B2D571}"/>
              </a:ext>
            </a:extLst>
          </p:cNvPr>
          <p:cNvSpPr>
            <a:spLocks noGrp="1"/>
          </p:cNvSpPr>
          <p:nvPr>
            <p:ph idx="1"/>
          </p:nvPr>
        </p:nvSpPr>
        <p:spPr>
          <a:xfrm>
            <a:off x="5155379" y="1065862"/>
            <a:ext cx="5744685" cy="4726276"/>
          </a:xfrm>
        </p:spPr>
        <p:txBody>
          <a:bodyPr anchor="ctr">
            <a:normAutofit/>
          </a:bodyPr>
          <a:lstStyle/>
          <a:p>
            <a:r>
              <a:rPr lang="en-US" sz="2000">
                <a:solidFill>
                  <a:srgbClr val="FFFFFF"/>
                </a:solidFill>
                <a:latin typeface="PT Serif Caption" panose="02060603050505020204" pitchFamily="18" charset="77"/>
              </a:rPr>
              <a:t>Munro, C., Siebert S., Zapata, F., Howison, M., Damian-Serrano, A., Church S.H., Goetz F.E., Pugh, P.R., Haddock, S.H.D., Dunn C.W. </a:t>
            </a:r>
            <a:r>
              <a:rPr lang="en-US" sz="2000" i="1">
                <a:solidFill>
                  <a:srgbClr val="FFFFFF"/>
                </a:solidFill>
                <a:latin typeface="PT Serif Caption" panose="02060603050505020204" pitchFamily="18" charset="77"/>
              </a:rPr>
              <a:t>Improved phylogenetic resolution within Siphonphore (Cnidaria) with implications for trait evolution. </a:t>
            </a:r>
            <a:r>
              <a:rPr lang="en-US" sz="2000">
                <a:solidFill>
                  <a:srgbClr val="FFFFFF"/>
                </a:solidFill>
                <a:latin typeface="PT Serif Caption" panose="02060603050505020204" pitchFamily="18" charset="77"/>
              </a:rPr>
              <a:t>Molecular Phylogenetics and Evolution</a:t>
            </a:r>
          </a:p>
          <a:p>
            <a:pPr marL="0" indent="0">
              <a:buNone/>
            </a:pPr>
            <a:endParaRPr lang="en-US" sz="2000">
              <a:solidFill>
                <a:srgbClr val="FFFFFF"/>
              </a:solidFill>
              <a:latin typeface="PT Serif Caption" panose="02060603050505020204" pitchFamily="18" charset="77"/>
            </a:endParaRPr>
          </a:p>
          <a:p>
            <a:r>
              <a:rPr lang="en-US" sz="2000">
                <a:solidFill>
                  <a:srgbClr val="FFFFFF"/>
                </a:solidFill>
                <a:latin typeface="PT Serif Caption" panose="02060603050505020204" pitchFamily="18" charset="77"/>
              </a:rPr>
              <a:t>GitHub account for the data: </a:t>
            </a:r>
            <a:r>
              <a:rPr lang="en-US" sz="2000" u="sng">
                <a:solidFill>
                  <a:srgbClr val="FFFFFF"/>
                </a:solidFill>
                <a:latin typeface="PT Serif Caption" panose="02060603050505020204" pitchFamily="18" charset="77"/>
                <a:hlinkClick r:id="rId4"/>
              </a:rPr>
              <a:t>https://github.com/caseywdunn/siphonophore_phylogeny_2017</a:t>
            </a:r>
            <a:r>
              <a:rPr lang="en-US" sz="2000">
                <a:solidFill>
                  <a:srgbClr val="FFFFFF"/>
                </a:solidFill>
                <a:latin typeface="PT Serif Caption" panose="02060603050505020204" pitchFamily="18" charset="77"/>
              </a:rPr>
              <a:t> </a:t>
            </a:r>
          </a:p>
          <a:p>
            <a:pPr marL="0" indent="0">
              <a:buNone/>
            </a:pPr>
            <a:endParaRPr lang="en-US" sz="2000">
              <a:solidFill>
                <a:srgbClr val="FFFFFF"/>
              </a:solidFill>
              <a:latin typeface="PT Serif Caption" panose="02060603050505020204" pitchFamily="18" charset="77"/>
            </a:endParaRPr>
          </a:p>
          <a:p>
            <a:r>
              <a:rPr lang="en-US" sz="2000">
                <a:solidFill>
                  <a:srgbClr val="FFFFFF"/>
                </a:solidFill>
                <a:latin typeface="PT Serif Caption" panose="02060603050505020204" pitchFamily="18" charset="77"/>
              </a:rPr>
              <a:t>My GitHub account: </a:t>
            </a:r>
            <a:r>
              <a:rPr lang="en-US" sz="2000" u="sng">
                <a:solidFill>
                  <a:srgbClr val="FFFFFF"/>
                </a:solidFill>
                <a:latin typeface="PT Serif Caption" panose="02060603050505020204" pitchFamily="18" charset="77"/>
                <a:hlinkClick r:id="rId5"/>
              </a:rPr>
              <a:t>https://github.com/lemellenthin/Phylo</a:t>
            </a:r>
            <a:r>
              <a:rPr lang="en-US" sz="2000">
                <a:solidFill>
                  <a:srgbClr val="FFFFFF"/>
                </a:solidFill>
                <a:latin typeface="PT Serif Caption" panose="02060603050505020204" pitchFamily="18" charset="77"/>
              </a:rPr>
              <a:t> </a:t>
            </a:r>
          </a:p>
          <a:p>
            <a:endParaRPr lang="en-US" sz="2000">
              <a:solidFill>
                <a:srgbClr val="FFFFFF"/>
              </a:solidFill>
            </a:endParaRPr>
          </a:p>
        </p:txBody>
      </p:sp>
    </p:spTree>
    <p:extLst>
      <p:ext uri="{BB962C8B-B14F-4D97-AF65-F5344CB8AC3E}">
        <p14:creationId xmlns:p14="http://schemas.microsoft.com/office/powerpoint/2010/main" val="319981477"/>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F8F02-806D-B24E-82DC-384CD11D043C}"/>
              </a:ext>
            </a:extLst>
          </p:cNvPr>
          <p:cNvSpPr>
            <a:spLocks noGrp="1"/>
          </p:cNvSpPr>
          <p:nvPr>
            <p:ph type="title"/>
          </p:nvPr>
        </p:nvSpPr>
        <p:spPr>
          <a:xfrm>
            <a:off x="0" y="0"/>
            <a:ext cx="3057939" cy="847449"/>
          </a:xfrm>
        </p:spPr>
        <p:txBody>
          <a:bodyPr/>
          <a:lstStyle/>
          <a:p>
            <a:r>
              <a:rPr lang="en-US" dirty="0">
                <a:latin typeface="PT Serif Caption" panose="02060603050505020204" pitchFamily="18" charset="77"/>
              </a:rPr>
              <a:t>Fun video</a:t>
            </a:r>
          </a:p>
        </p:txBody>
      </p:sp>
      <p:pic>
        <p:nvPicPr>
          <p:cNvPr id="4" name="Dandelion siphonophore">
            <a:hlinkClick r:id="" action="ppaction://media"/>
            <a:extLst>
              <a:ext uri="{FF2B5EF4-FFF2-40B4-BE49-F238E27FC236}">
                <a16:creationId xmlns:a16="http://schemas.microsoft.com/office/drawing/2014/main" id="{A6825BC0-72A8-E044-B3E8-CCAD540F8596}"/>
              </a:ext>
            </a:extLst>
          </p:cNvPr>
          <p:cNvPicPr>
            <a:picLocks noGrp="1" noRot="1" noChangeAspect="1"/>
          </p:cNvPicPr>
          <p:nvPr>
            <p:ph idx="1"/>
            <a:videoFile r:link="rId1"/>
          </p:nvPr>
        </p:nvPicPr>
        <p:blipFill>
          <a:blip r:embed="rId3"/>
          <a:stretch>
            <a:fillRect/>
          </a:stretch>
        </p:blipFill>
        <p:spPr>
          <a:xfrm>
            <a:off x="894522" y="828074"/>
            <a:ext cx="10720112" cy="6029926"/>
          </a:xfrm>
          <a:prstGeom prst="rect">
            <a:avLst/>
          </a:prstGeom>
        </p:spPr>
      </p:pic>
    </p:spTree>
    <p:extLst>
      <p:ext uri="{BB962C8B-B14F-4D97-AF65-F5344CB8AC3E}">
        <p14:creationId xmlns:p14="http://schemas.microsoft.com/office/powerpoint/2010/main" val="272615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1447</Words>
  <Application>Microsoft Macintosh PowerPoint</Application>
  <PresentationFormat>Widescreen</PresentationFormat>
  <Paragraphs>92</Paragraphs>
  <Slides>26</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PT Serif Caption</vt:lpstr>
      <vt:lpstr>Office Theme</vt:lpstr>
      <vt:lpstr>Siphono-what?</vt:lpstr>
      <vt:lpstr>Introduction: What are siphonophores</vt:lpstr>
      <vt:lpstr>Introduction: Why are they hard to study</vt:lpstr>
      <vt:lpstr>Introduction: What is known?</vt:lpstr>
      <vt:lpstr>New phylogeny</vt:lpstr>
      <vt:lpstr>My questions</vt:lpstr>
      <vt:lpstr>Parsimony goals</vt:lpstr>
      <vt:lpstr>Maximum likelihood goals</vt:lpstr>
      <vt:lpstr>Programs and alignment</vt:lpstr>
      <vt:lpstr>TNT parsimony</vt:lpstr>
      <vt:lpstr>PAUP parsimony</vt:lpstr>
      <vt:lpstr>PAUP parsimony #2</vt:lpstr>
      <vt:lpstr>Parsimony #1 vs parsimony #2</vt:lpstr>
      <vt:lpstr>PAUP parsimony bootstrap</vt:lpstr>
      <vt:lpstr>PAUP bootstrap parsimony #2</vt:lpstr>
      <vt:lpstr>Parsimony bootstrap #1 vs parsimony bootstrap #2</vt:lpstr>
      <vt:lpstr>PAUP jackknife</vt:lpstr>
      <vt:lpstr>Parsimony methods</vt:lpstr>
      <vt:lpstr>Original tree vs parsimony tree</vt:lpstr>
      <vt:lpstr>Original tree vs bootstrap parsimony</vt:lpstr>
      <vt:lpstr>Original tree vs jackknife parsimony</vt:lpstr>
      <vt:lpstr>Main findings</vt:lpstr>
      <vt:lpstr>Conclusions</vt:lpstr>
      <vt:lpstr>Future Directions</vt:lpstr>
      <vt:lpstr>Citations</vt:lpstr>
      <vt:lpstr>Fun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Siphono-what?</dc:title>
  <dc:creator>Mellenthin, Lauren E</dc:creator>
  <cp:lastModifiedBy>Mellenthin, Lauren E</cp:lastModifiedBy>
  <cp:revision>3</cp:revision>
  <dcterms:created xsi:type="dcterms:W3CDTF">2019-04-30T05:41:51Z</dcterms:created>
  <dcterms:modified xsi:type="dcterms:W3CDTF">2019-04-30T05:48:25Z</dcterms:modified>
</cp:coreProperties>
</file>